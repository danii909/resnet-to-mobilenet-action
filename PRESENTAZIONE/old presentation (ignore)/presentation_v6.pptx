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Knowledge Distillation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AABBFF"/>
                </a:solidFill>
                <a:latin typeface="Calibri"/>
              </a:rPr>
              <a:t>for Mobile Action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54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Compressing a 3D ResNet-50 teacher into a MobileNet3D student
for efficient video action recognition on UCF-101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31920"/>
            <a:ext cx="2743200" cy="36576"/>
          </a:xfrm>
          <a:prstGeom prst="rect">
            <a:avLst/>
          </a:prstGeom>
          <a:solidFill>
            <a:srgbClr val="E5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99FF"/>
                </a:solidFill>
                <a:latin typeface="Calibri"/>
              </a:rPr>
              <a:t>DEEP LEARNING — ADVANCED MODELS AND METHODS</a:t>
            </a:r>
          </a:p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Daniele Barbagallo   |   Student ID 1000015334</a:t>
            </a:r>
          </a:p>
          <a:p>
            <a:pPr algn="l"/>
            <a:r>
              <a:rPr sz="1000" b="0">
                <a:solidFill>
                  <a:srgbClr val="9999BB"/>
                </a:solidFill>
                <a:latin typeface="Calibri"/>
              </a:rPr>
              <a:t>Università di Catania — DMI   |   A.A. 2025/2026</a:t>
            </a:r>
          </a:p>
          <a:p>
            <a:pPr algn="l"/>
            <a:r>
              <a:rPr sz="1000" b="0">
                <a:solidFill>
                  <a:srgbClr val="9999BB"/>
                </a:solidFill>
                <a:latin typeface="Calibri"/>
              </a:rPr>
              <a:t>Advisor: Prof. Antonino Furnari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1/23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Structure of this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310896" cy="310896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27048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4813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Problem &amp;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517904"/>
            <a:ext cx="7680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Capacity gap, baseline, objective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39112"/>
            <a:ext cx="310896" cy="310896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011680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965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Experimental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02536"/>
            <a:ext cx="7680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UCF-101, group-aware split, training config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523744"/>
            <a:ext cx="310896" cy="310896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496312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4505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Logit-Based KD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487168"/>
            <a:ext cx="7680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Loss function, warmup, results 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008376"/>
            <a:ext cx="310896" cy="310896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980944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93522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Training Curves — T=20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2971800"/>
            <a:ext cx="7680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Loss, accuracy &amp; LR curves for the best experiment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493008"/>
            <a:ext cx="310896" cy="310896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465576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4198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Temperature Ablation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3456432"/>
            <a:ext cx="7680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Histograms Top-1/Top-5, comparison across 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977640"/>
            <a:ext cx="310896" cy="310896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950208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39044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Confusion Matrix &amp; Errors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3941064"/>
            <a:ext cx="7680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Visual error analysis &amp; top 5 wrong classes relation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462272"/>
            <a:ext cx="310896" cy="310896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434840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4389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KD Impact per Class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4425696"/>
            <a:ext cx="7680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Delta accuracy (KD T=20 − Baseline) per class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946904"/>
            <a:ext cx="310896" cy="310896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919472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4873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Advanced Methods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60" y="4910328"/>
            <a:ext cx="7680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Attention Transfer &amp; Born-Again self-distillation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431536"/>
            <a:ext cx="310896" cy="310896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404104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535838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Qualitative — t-SNE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5394960"/>
            <a:ext cx="7680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Latent space comparison (baseline, T=20, teacher)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916168"/>
            <a:ext cx="310896" cy="310896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5888736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" y="584301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Cross-Frame Distillation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1960" y="5879592"/>
            <a:ext cx="7680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16f vs 24f GPU/CPU benchmark results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6400800"/>
            <a:ext cx="310896" cy="310896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373368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63276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Conclusions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51960" y="6364224"/>
            <a:ext cx="7680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Speed-accuracy trade-off, key findings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2/23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Problem Statement &amp;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91"/>
                </a:solidFill>
                <a:latin typeface="Calibri"/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A1A2E"/>
                </a:solidFill>
                <a:latin typeface="Calibri"/>
              </a:rPr>
              <a:t>Compress a 3D ResNet-50 teacher (~128 MB,</a:t>
            </a:r>
          </a:p>
          <a:p>
            <a:pPr algn="l">
              <a:lnSpc>
                <a:spcPts val="1500"/>
              </a:lnSpc>
            </a:pPr>
            <a:r>
              <a:rPr sz="1150" b="0">
                <a:solidFill>
                  <a:srgbClr val="1A1A2E"/>
                </a:solidFill>
                <a:latin typeface="Calibri"/>
              </a:rPr>
              <a:t>pretrained on Kinetics-400) into a MobileNet3D</a:t>
            </a:r>
          </a:p>
          <a:p>
            <a:pPr algn="l">
              <a:lnSpc>
                <a:spcPts val="1500"/>
              </a:lnSpc>
            </a:pPr>
            <a:r>
              <a:rPr sz="1150" b="0">
                <a:solidFill>
                  <a:srgbClr val="1A1A2E"/>
                </a:solidFill>
                <a:latin typeface="Calibri"/>
              </a:rPr>
              <a:t>student (~9.5 MB) for on-device video action</a:t>
            </a:r>
          </a:p>
          <a:p>
            <a:pPr algn="l">
              <a:lnSpc>
                <a:spcPts val="1500"/>
              </a:lnSpc>
            </a:pPr>
            <a:r>
              <a:rPr sz="1150" b="0">
                <a:solidFill>
                  <a:srgbClr val="1A1A2E"/>
                </a:solidFill>
                <a:latin typeface="Calibri"/>
              </a:rPr>
              <a:t>recognition on UCF-101 (101 classes).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91"/>
                </a:solidFill>
                <a:latin typeface="Calibri"/>
              </a:rPr>
              <a:t>Capacity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5468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A2E"/>
                </a:solidFill>
                <a:latin typeface="Calibri"/>
              </a:rPr>
              <a:t>• Teacher (ResNet-50, Kinetics pretrained): 88.82% Top-1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A2E"/>
                </a:solidFill>
                <a:latin typeface="Calibri"/>
              </a:rPr>
              <a:t>• Student (MobileNet3D, from scratch):      59.48% Top-1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A2E"/>
                </a:solidFill>
                <a:latin typeface="Calibri"/>
              </a:rPr>
              <a:t>• Gap: −29.3 pp  |  Size ratio: ~13.5×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A2E"/>
                </a:solidFill>
                <a:latin typeface="Calibri"/>
              </a:rPr>
              <a:t>• Objective: close the gap via KD at zero size overhead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91"/>
                </a:solidFill>
                <a:latin typeface="Calibri"/>
              </a:rPr>
              <a:t>Reference Numbers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1828800" cy="9601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17373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3D91"/>
                </a:solidFill>
                <a:latin typeface="Calibri"/>
              </a:rPr>
              <a:t>88.82%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77109"/>
            <a:ext cx="1737360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Teacher Top-1 (ResNet-50)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1920240"/>
            <a:ext cx="1828800" cy="9601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65960"/>
            <a:ext cx="17373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54800"/>
                </a:solidFill>
                <a:latin typeface="Calibri"/>
              </a:rPr>
              <a:t>59.48%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77109"/>
            <a:ext cx="1737360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Baseline Student Top-1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971800"/>
            <a:ext cx="1828800" cy="9601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017520"/>
            <a:ext cx="17373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54800"/>
                </a:solidFill>
                <a:latin typeface="Calibri"/>
              </a:rPr>
              <a:t>−29.3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528669"/>
            <a:ext cx="1737360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Capacity Gap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2971800"/>
            <a:ext cx="1828800" cy="9601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017520"/>
            <a:ext cx="17373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3D91"/>
                </a:solidFill>
                <a:latin typeface="Calibri"/>
              </a:rPr>
              <a:t>13.5×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528669"/>
            <a:ext cx="1737360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Size Ratio (Teacher/Student)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91"/>
                </a:solidFill>
                <a:latin typeface="Calibri"/>
              </a:rPr>
              <a:t>Why Knowledge Distillation?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4805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A2E"/>
                </a:solidFill>
                <a:latin typeface="Calibri"/>
              </a:rPr>
              <a:t>• Teacher soft-logits carry inter-class similarity structure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A2E"/>
                </a:solidFill>
                <a:latin typeface="Calibri"/>
              </a:rPr>
              <a:t>• Higher entropy targets are easier for low-capacity students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A2E"/>
                </a:solidFill>
                <a:latin typeface="Calibri"/>
              </a:rPr>
              <a:t>• Zero parameter/latency overhead on the deployed student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3/23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Dataset, Group-Aware Split &amp; Training Config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91"/>
                </a:solidFill>
                <a:latin typeface="Calibri"/>
              </a:rPr>
              <a:t>UCF-101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19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5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101 action classes (sports, daily activities)</a:t>
            </a:r>
          </a:p>
          <a:p>
            <a:pPr algn="l">
              <a:lnSpc>
                <a:spcPts val="155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13,320 video clips from YouTube</a:t>
            </a:r>
          </a:p>
          <a:p>
            <a:pPr algn="l">
              <a:lnSpc>
                <a:spcPts val="155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Sampled at 24 frames/clip (112×112 crop)</a:t>
            </a:r>
          </a:p>
          <a:p>
            <a:pPr algn="l">
              <a:lnSpc>
                <a:spcPts val="155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Official test split: 3,783 clips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5087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91"/>
                </a:solidFill>
                <a:latin typeface="Calibri"/>
              </a:rPr>
              <a:t>Group-Aware Eval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74519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5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UCF-101 clips are grouped by source video.</a:t>
            </a:r>
          </a:p>
          <a:p>
            <a:pPr algn="l">
              <a:lnSpc>
                <a:spcPts val="145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A naïve random split leaks correlated frames</a:t>
            </a:r>
          </a:p>
          <a:p>
            <a:pPr algn="l">
              <a:lnSpc>
                <a:spcPts val="145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across train/eval → inflated val metrics.</a:t>
            </a:r>
          </a:p>
          <a:p>
            <a:pPr algn="l">
              <a:lnSpc>
                <a:spcPts val="145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lnSpc>
                <a:spcPts val="145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Split at group level (regex on video ID)</a:t>
            </a:r>
          </a:p>
          <a:p>
            <a:pPr algn="l">
              <a:lnSpc>
                <a:spcPts val="145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80% train / 20% internal eval — no leakage</a:t>
            </a:r>
          </a:p>
          <a:p>
            <a:pPr algn="l">
              <a:lnSpc>
                <a:spcPts val="145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Official test set reserved for final evaluation</a:t>
            </a:r>
          </a:p>
          <a:p>
            <a:pPr algn="l">
              <a:lnSpc>
                <a:spcPts val="145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Only group-aware results used in this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91"/>
                </a:solidFill>
                <a:latin typeface="Calibri"/>
              </a:rPr>
              <a:t>Training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74519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Calibri"/>
              </a:rPr>
              <a:t>Student (MobileNet3D)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  Optimizer: AdamW   WD: 0.01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  LR: 5e-4   Scheduler: cosine annealing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  Epochs: 60   Batch: 16   AMP ✓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  KD warmup: 10 epochs (CE-only)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  Label smoothing: 0.1</a:t>
            </a:r>
          </a:p>
          <a:p>
            <a:pPr algn="l"/>
            <a:r>
              <a:rPr sz="600" b="0">
                <a:solidFill>
                  <a:srgbClr val="555555"/>
                </a:solidFill>
                <a:latin typeface="Calibri"/>
              </a:rPr>
              <a:t/>
            </a:r>
          </a:p>
          <a:p>
            <a:pPr algn="l"/>
            <a:r>
              <a:rPr sz="1050" b="1">
                <a:solidFill>
                  <a:srgbClr val="1A1A2E"/>
                </a:solidFill>
                <a:latin typeface="Calibri"/>
              </a:rPr>
              <a:t>Teacher (ResNet-50)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  Pretrained: Kinetics-400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  Optimizer: SGD   LR: 7e-4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  Epochs: 50   Batch: 12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  Fine-tuned on UCF-101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303520"/>
            <a:ext cx="11365992" cy="11887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675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D91"/>
                </a:solidFill>
                <a:latin typeface="Calibri"/>
              </a:rPr>
              <a:t>All results shown use the Group-Aware protocol — the only statistically valid split.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Experiments run on: slurm-train-eval-4495, 4565, 4601, slurm-born-again-4529, slurm-train-eval-4675 (cross-frame).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4/23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LOGIT-BASED KNOWLEDGE DISTILLATION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Method — Logit-Based KD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Temperature-scaled soft targets from teacher logits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91"/>
                </a:solidFill>
                <a:latin typeface="Calibri"/>
              </a:rPr>
              <a:t>Loss Function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5669280" cy="12344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ourier New"/>
              </a:rPr>
              <a:t>L_KD  =  (1−α)·L_CE(y, ŷ)  +  α·T²·KL( σ(z_T/T) ‖ σ(z_S/T)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3D91"/>
                </a:solidFill>
                <a:latin typeface="Calibri"/>
              </a:rPr>
              <a:t>T</a:t>
            </a:r>
          </a:p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  temperature (controls soft-target entropy)  </a:t>
            </a:r>
          </a:p>
          <a:p>
            <a:pPr algn="l"/>
            <a:r>
              <a:rPr sz="1050" b="1">
                <a:solidFill>
                  <a:srgbClr val="0F3D91"/>
                </a:solidFill>
                <a:latin typeface="Calibri"/>
              </a:rPr>
              <a:t>α</a:t>
            </a:r>
          </a:p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  KD weight vs hard-label CE loss</a:t>
            </a:r>
          </a:p>
          <a:p>
            <a:pPr algn="l"/>
            <a:r>
              <a:rPr sz="1050" b="1">
                <a:solidFill>
                  <a:srgbClr val="0F3D91"/>
                </a:solidFill>
                <a:latin typeface="Calibri"/>
              </a:rPr>
              <a:t>z_T, z_S</a:t>
            </a:r>
          </a:p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  teacher/student pre-softmax logits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004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91"/>
                </a:solidFill>
                <a:latin typeface="Calibri"/>
              </a:rPr>
              <a:t>Warmup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547872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10 epochs of pure CE before soft targets.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Stabilizes student weights from scratch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before teacher guidance is introduced.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Effect: +1.19 pp Top-1 vs. no warmup.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91"/>
                </a:solidFill>
                <a:latin typeface="Calibri"/>
              </a:rPr>
              <a:t>Temperature Sweep Results (Group-Aware Test Set)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920240"/>
            <a:ext cx="2560320" cy="34747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Configuration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920240"/>
            <a:ext cx="822960" cy="34747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92024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Top-1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21240" y="1920240"/>
            <a:ext cx="822960" cy="34747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0" y="192024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Top-5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89920" y="1920240"/>
            <a:ext cx="1097280" cy="34747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35640" y="192024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Δ Baseline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267712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26771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Baseline (no KD)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2267712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226771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59.48%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2267712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226771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82.77%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89920" y="2267712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35640" y="226771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615184"/>
            <a:ext cx="2560320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61518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KD T=1,  α=0.7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2615184"/>
            <a:ext cx="822960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61518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64.31%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21240" y="2615184"/>
            <a:ext cx="822960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261518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85.56%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89920" y="2615184"/>
            <a:ext cx="1097280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5640" y="2615184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+4.83 pp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962656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296265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KD T=5,  α=0.7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2560" y="2962656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98280" y="2962656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62.91%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21240" y="2962656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66960" y="2962656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85.65%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789920" y="2962656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35640" y="296265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+3.43 pp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3310128"/>
            <a:ext cx="2560320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331012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KD T=8,  α=0.7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3310128"/>
            <a:ext cx="822960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98280" y="331012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64.58%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21240" y="3310128"/>
            <a:ext cx="822960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6960" y="331012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86.94%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789920" y="3310128"/>
            <a:ext cx="1097280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35640" y="331012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+5.10 pp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3657600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365760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KD T=10, α=0.7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52560" y="3657600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98280" y="365760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64.47%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921240" y="3657600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66960" y="365760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86.55%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789920" y="3657600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35640" y="365760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+4.99 pp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4005072"/>
            <a:ext cx="2560320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400507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KD T=20, α=0.7  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52560" y="4005072"/>
            <a:ext cx="822960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98280" y="400507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4800"/>
                </a:solidFill>
                <a:latin typeface="Calibri"/>
              </a:rPr>
              <a:t>65.85%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921240" y="4005072"/>
            <a:ext cx="822960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66960" y="400507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4800"/>
                </a:solidFill>
                <a:latin typeface="Calibri"/>
              </a:rPr>
              <a:t>89.24%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789920" y="4005072"/>
            <a:ext cx="1097280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835640" y="400507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4800"/>
                </a:solidFill>
                <a:latin typeface="Calibri"/>
              </a:rPr>
              <a:t>+6.37 pp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4352544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46520" y="435254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Teacher (ResNet-50)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52560" y="4352544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98280" y="435254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88.82%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921240" y="4352544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66960" y="435254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98.18%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789920" y="4352544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835640" y="4352544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0" y="4754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4800"/>
                </a:solidFill>
                <a:latin typeface="Calibri"/>
              </a:rPr>
              <a:t>★ Best: T=20 → 65.85% Top-1 (+6.37 pp vs baseline 59.48%)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0" y="50474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Higher T smooths teacher logits → exposes inter-class similarity → student learns class boundaries better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5/23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BEST EXPERIMENT — KD T=20, α=0.7 | Training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Training Curves — KD T=20 (Best Experiment)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Loss and Top-1/Top-5 accuracy over 60 epochs + cosine LR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d_t20_a07_24f_lightau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5852160" cy="3017520"/>
          </a:xfrm>
          <a:prstGeom prst="rect">
            <a:avLst/>
          </a:prstGeom>
        </p:spPr>
      </p:pic>
      <p:pic>
        <p:nvPicPr>
          <p:cNvPr id="8" name="Picture 7" descr="kd_t20_a07_24f_lightaug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5852160" cy="3017520"/>
          </a:xfrm>
          <a:prstGeom prst="rect">
            <a:avLst/>
          </a:prstGeom>
        </p:spPr>
      </p:pic>
      <p:pic>
        <p:nvPicPr>
          <p:cNvPr id="9" name="Picture 8" descr="kd_t20_a07_24f_lightaug_l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572000"/>
            <a:ext cx="3657600" cy="1920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60520" y="4572000"/>
            <a:ext cx="7909560" cy="19202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4617720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D91"/>
                </a:solidFill>
                <a:latin typeface="Calibri"/>
              </a:rPr>
              <a:t>Reading the Curves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937760"/>
            <a:ext cx="7680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5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Loss converges smoothly — KD loss dominated by KL term in first 30 epochs</a:t>
            </a:r>
          </a:p>
          <a:p>
            <a:pPr algn="l">
              <a:lnSpc>
                <a:spcPts val="145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Eval accuracy plateaus at ~63-65% (group-aware, no leakage) — stable after epoch 40</a:t>
            </a:r>
          </a:p>
          <a:p>
            <a:pPr algn="l">
              <a:lnSpc>
                <a:spcPts val="145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Top-5 eval accuracy reaches ~85-86% → good ranking quality despite Top-1 gap</a:t>
            </a:r>
          </a:p>
          <a:p>
            <a:pPr algn="l">
              <a:lnSpc>
                <a:spcPts val="145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No significant overfit: train/eval gap reflects capacity, not data leakage</a:t>
            </a:r>
          </a:p>
          <a:p>
            <a:pPr algn="l">
              <a:lnSpc>
                <a:spcPts val="145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Cosine LR annealing gradually reduces LR to ≈0 by epoch 60 → smooth convergence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6/23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LOGIT-BASED KD — TEMPERATURE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Test Set Top-1 Accuracy — All Configurations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stillation_histogram_test_t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1152144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71500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KD T=20 achieves 65.85% (+6.37 pp vs baseline 59.48%). Performance is monotonically non-decreasing with temperature. AT symmetric and Born-Again Gen3 fall below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7/23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LOGIT-BASED KD — TEMPERATURE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Test Set Top-5 Accuracy — All Configurations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stillation_histogram_test_to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1152144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71500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KD T=20 also achieves best Top-5: 89.24% (+6.47 pp vs baseline 82.77%). Soft targets consistently improve ranking quality across all temperature settings.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8/23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CONFUSION MATRIX — BASELINE vs BEST (KD T=20, α=0.7)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Confusion Matrix — Top 25 Hardest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Comparison: Baseline (left) vs KD T=20 (right)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edictions_baseline_ls005_24f_lightaug_top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5852160" cy="4983480"/>
          </a:xfrm>
          <a:prstGeom prst="rect">
            <a:avLst/>
          </a:prstGeom>
        </p:spPr>
      </p:pic>
      <p:pic>
        <p:nvPicPr>
          <p:cNvPr id="8" name="Picture 7" descr="predictions_kd_t20_a07_24f_lightaug_top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5760720" cy="49834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6446520"/>
            <a:ext cx="5852160" cy="274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464808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54800"/>
                </a:solidFill>
                <a:latin typeface="Calibri"/>
              </a:rPr>
              <a:t>Baseline MobileNet3D — 59.48% Top-1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6446520"/>
            <a:ext cx="576072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6464808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3D91"/>
                </a:solidFill>
                <a:latin typeface="Calibri"/>
              </a:rPr>
              <a:t>KD T=20 (Best) — 65.85% Top-1  (+6.37 pp)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9/23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CONFUSION MATRIX — KD T=20 FULL (101 Classes, Normalized)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Normalized Confusion Matrix — KD T=20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All 101 UCF-101 classes on the official test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edictions_kd_t20_a07_24f_lightaug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9601200" cy="5120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058400" y="1417320"/>
            <a:ext cx="2011680" cy="51206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0" y="14813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D91"/>
                </a:solidFill>
                <a:latin typeface="Calibri"/>
              </a:rPr>
              <a:t>Key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1828800"/>
            <a:ext cx="1828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• Strong diagonal →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  most classes well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  predicted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• Off-diagonal blobs: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  similar-motion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  pairs confused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  (e.g. CricketShot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  ↔ TennisSwing)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• Instrument classes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  (PlayingDhol,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  PlayingCello) show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  good separation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• Hammering &amp;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  Archery show most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  inter-class noise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10/23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CONFUSION MATRIX — TOP 5 ERRORS 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Error Analysis — Top 5 Hardest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Relationship between baseline and distillation (KD T=20) top errors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347472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383280" cy="61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3D91"/>
                </a:solidFill>
                <a:latin typeface="Calibri"/>
              </a:rPr>
              <a:t>+65.7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5182"/>
            <a:ext cx="3383280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WallPushups
Accuracy Gain (0% → 65.7%)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508760"/>
            <a:ext cx="347472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3383280" cy="61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54800"/>
                </a:solidFill>
                <a:latin typeface="Calibri"/>
              </a:rPr>
              <a:t>-9.1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45182"/>
            <a:ext cx="3383280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Hammering
Accuracy Drop (12.1% → 3.0%)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508760"/>
            <a:ext cx="347472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54480"/>
            <a:ext cx="3383280" cy="61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3D91"/>
                </a:solidFill>
                <a:latin typeface="Calibri"/>
              </a:rPr>
              <a:t>Top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45182"/>
            <a:ext cx="3383280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HandstandWalking
Persistent difficulty (~94% error)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7889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91"/>
                </a:solidFill>
                <a:latin typeface="Calibri"/>
              </a:rPr>
              <a:t>Relationship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10896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D91"/>
                </a:solidFill>
                <a:latin typeface="Calibri"/>
              </a:rPr>
              <a:t>Shared Challenges (Persistent)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566160"/>
            <a:ext cx="3474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1A1A2E"/>
                </a:solidFill>
                <a:latin typeface="Calibri"/>
              </a:rPr>
              <a:t>• HandstandWalking and Nunchucks remain in the top 5 errors for both models: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A2E"/>
                </a:solidFill>
                <a:latin typeface="Calibri"/>
              </a:rPr>
              <a:t>  - HandstandWalking: 2.94% → 5.88% (+2.94 pp)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A2E"/>
                </a:solidFill>
                <a:latin typeface="Calibri"/>
              </a:rPr>
              <a:t>  - Nunchucks: 11.43% → 20.00% (+8.57 pp)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A2E"/>
                </a:solidFill>
                <a:latin typeface="Calibri"/>
              </a:rPr>
              <a:t>  - MoppingFloor: 11.76% → 20.59% (+8.82 pp)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A2E"/>
                </a:solidFill>
                <a:latin typeface="Calibri"/>
              </a:rPr>
              <a:t>• Complex dynamics: These classes feature rapid, complex body motion sequences that remain hard to capture.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A2E"/>
                </a:solidFill>
                <a:latin typeface="Calibri"/>
              </a:rPr>
              <a:t>• Persistent confusions: MoppingFloor is heavily confused with HandstandWalking in both (26.5% vs 29.4%).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D91"/>
                </a:solidFill>
                <a:latin typeface="Calibri"/>
              </a:rPr>
              <a:t>Greatest Successes (KD Resolution)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566160"/>
            <a:ext cx="3474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1A1A2E"/>
                </a:solidFill>
                <a:latin typeface="Calibri"/>
              </a:rPr>
              <a:t>• KD regularizes baseline's worst classes by providing soft inter-class targets: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A2E"/>
                </a:solidFill>
                <a:latin typeface="Calibri"/>
              </a:rPr>
              <a:t>  - WallPushups: 0.00% → 65.71% (+65.71 pp)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A2E"/>
                </a:solidFill>
                <a:latin typeface="Calibri"/>
              </a:rPr>
              <a:t>  - HeadMassage: 12.20% → 41.46% (+29.26 pp)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A2E"/>
                </a:solidFill>
                <a:latin typeface="Calibri"/>
              </a:rPr>
              <a:t>  - JumpRope: 10.53% → 23.68% (+13.16 pp)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A2E"/>
                </a:solidFill>
                <a:latin typeface="Calibri"/>
              </a:rPr>
              <a:t>• Teacher soft logits guide the student through subtle motion boundaries.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A2E"/>
                </a:solidFill>
                <a:latin typeface="Calibri"/>
              </a:rPr>
              <a:t>• Clear confusions: JumpRope confusion with JumpingJack falls from 18.4% to 0%.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4800"/>
                </a:solidFill>
                <a:latin typeface="Calibri"/>
              </a:rPr>
              <a:t>Unexpected Regressions (Trade-offs)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566160"/>
            <a:ext cx="3474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1A1A2E"/>
                </a:solidFill>
                <a:latin typeface="Calibri"/>
              </a:rPr>
              <a:t>• Distillation degrades classes requiring fine-grained or fast periodic cues: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A2E"/>
                </a:solidFill>
                <a:latin typeface="Calibri"/>
              </a:rPr>
              <a:t>  - Hammering: 12.12% → 3.03% (−9.09 pp)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A2E"/>
                </a:solidFill>
                <a:latin typeface="Calibri"/>
              </a:rPr>
              <a:t>  - PizzaTossing: 27.27% → 15.15% (−12.12 pp)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A2E"/>
                </a:solidFill>
                <a:latin typeface="Calibri"/>
              </a:rPr>
              <a:t>  - Archery: 29.27% → 19.51% (−9.76 pp)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A2E"/>
                </a:solidFill>
                <a:latin typeface="Calibri"/>
              </a:rPr>
              <a:t>• Over-smoothing: At T=20, soft targets smooth out fine visual details (e.g. hammer/pizza shape).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A2E"/>
                </a:solidFill>
                <a:latin typeface="Calibri"/>
              </a:rPr>
              <a:t>• High confusion: Hammering gets confused with PlayingSitar (12.1%); Archery with WritingOnBoard (22.0%).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11/23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QUALITATIVE — KD IMPACT PER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KD T=20 vs Baseline — Per-Class Accuracy Delta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Top improvements and regressions across UCF-101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lta_accuracy_kd_v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8686800" cy="5120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144000" y="1417320"/>
            <a:ext cx="2880360" cy="51206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14813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D91"/>
                </a:solidFill>
                <a:latin typeface="Calibri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847088"/>
            <a:ext cx="2697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Top gains: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  WallPushups +65.7%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  HeadMassage +29.3%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  JavelinThrow +29.0%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  Drumming     +28.9%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Winners share subtle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motion patterns that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the teacher's soft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logits clarify.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Regressions: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  JumpingJack −16.2%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  TennisSwing −14.3%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High-energy periodical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actions where teacher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soft targets add noise</a:t>
            </a:r>
          </a:p>
          <a:p>
            <a:pPr algn="l">
              <a:lnSpc>
                <a:spcPts val="1300"/>
              </a:lnSpc>
            </a:pPr>
            <a:r>
              <a:rPr sz="950" b="0">
                <a:solidFill>
                  <a:srgbClr val="1A1A2E"/>
                </a:solidFill>
                <a:latin typeface="Calibri"/>
              </a:rPr>
              <a:t>vs. one-hot targets.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12/23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QUALITATIVE ANALYSIS — LATENT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t-SNE — Latent Space at Different Temperatures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Pre-classifier embeddings for 10 random UCF-101 classes (slurm-4565)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sne_comparison_44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1152144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6509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3D91"/>
                </a:solidFill>
                <a:latin typeface="Calibri"/>
              </a:rPr>
              <a:t>Teacher (ResNet-50):</a:t>
            </a:r>
          </a:p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 Compact, well-separated  </a:t>
            </a:r>
          </a:p>
          <a:p>
            <a:pPr algn="l"/>
            <a:r>
              <a:rPr sz="1050" b="0">
                <a:solidFill>
                  <a:srgbClr val="DDDDDD"/>
                </a:solidFill>
                <a:latin typeface="Calibri"/>
              </a:rPr>
              <a:t>  |  </a:t>
            </a:r>
          </a:p>
          <a:p>
            <a:pPr algn="l"/>
            <a:r>
              <a:rPr sz="1050" b="1">
                <a:solidFill>
                  <a:srgbClr val="E54800"/>
                </a:solidFill>
                <a:latin typeface="Calibri"/>
              </a:rPr>
              <a:t>Baseline MobileNet3D:</a:t>
            </a:r>
          </a:p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 Significant inter-class overlap  </a:t>
            </a:r>
          </a:p>
          <a:p>
            <a:pPr algn="l"/>
            <a:r>
              <a:rPr sz="1050" b="0">
                <a:solidFill>
                  <a:srgbClr val="DDDDDD"/>
                </a:solidFill>
                <a:latin typeface="Calibri"/>
              </a:rPr>
              <a:t>  |  </a:t>
            </a:r>
          </a:p>
          <a:p>
            <a:pPr algn="l"/>
            <a:r>
              <a:rPr sz="1050" b="1">
                <a:solidFill>
                  <a:srgbClr val="228844"/>
                </a:solidFill>
                <a:latin typeface="Calibri"/>
              </a:rPr>
              <a:t>Distilled Student (T=8):</a:t>
            </a:r>
          </a:p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 Tighter clusters, improved class separation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13/23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ADVANCED METHODS — ATTENTION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Attention Transfer (AT)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Aligning spatial/temporal activation maps across network stages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91"/>
                </a:solidFill>
                <a:latin typeface="Calibri"/>
              </a:rP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5394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L2-normalized squared activation maps from matched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stages aligned between teacher (ResNet-50) and student.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L_total = L_KD + β_s·L_AT_spatial + β_t·L_AT_temporal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260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4800"/>
                </a:solidFill>
                <a:latin typeface="Calibri"/>
              </a:rPr>
              <a:t>Bug Fixed: Key-5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24612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Initial config: block [3,4,5] of teacher.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Block 5 = classification head (2D) → constant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attention map at 1.0 → AT loss silently vanished.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Fix: mapping [2,3,4]→[2,4,6] (ResNet→MobileNet).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Stages share spatial resolutions: 28×28, 14×14, 7×7.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5087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91"/>
                </a:solidFill>
                <a:latin typeface="Calibri"/>
              </a:rPr>
              <a:t>AT Results (Group-Aware Protocol, slurm-4601)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920240"/>
            <a:ext cx="3200400" cy="36576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Experiment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64040" y="1920240"/>
            <a:ext cx="914400" cy="36576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92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Top-1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69880" y="1920240"/>
            <a:ext cx="914400" cy="36576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0" y="192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Top-5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286000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KD Baseline (T=8, α=0.7)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64040" y="2286000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58.92%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69880" y="2286000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84.93%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651760"/>
            <a:ext cx="3200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AT Symmetric (β_s=β_t=0.05)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64040" y="2651760"/>
            <a:ext cx="914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59.42%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9880" y="2651760"/>
            <a:ext cx="914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0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85.04%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017520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AT Heavy Temporal (β_t=0.07)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64040" y="3017520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59.40%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69880" y="3017520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84.99%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383280"/>
            <a:ext cx="3200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Late-Stage AT ([4]→[6])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64040" y="3383280"/>
            <a:ext cx="914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61.59%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69880" y="3383280"/>
            <a:ext cx="914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87.52%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749040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Temporal-Only (β_s=0)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64040" y="3749040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3749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62.07%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69880" y="3749040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5600" y="3749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87.05%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4114800"/>
            <a:ext cx="3200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KD Opt. T=10, α=0.9, wup10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64040" y="4114800"/>
            <a:ext cx="914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760" y="4114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62.62%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69880" y="4114800"/>
            <a:ext cx="914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15600" y="4114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87.02%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44805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D91"/>
                </a:solidFill>
                <a:latin typeface="Calibri"/>
              </a:rPr>
              <a:t>Interpretation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4846320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Spatial AT: depthwise ↔ standard conv gap limits alignment quality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Interpolation artifacts degrade spatial AT signal → acts as noise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Temporal-only AT avoids spatial distortion → best AT variant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Pure KD T=20 (65.85%) outperforms all AT variants by a large margin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14/23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ADVANCED METHODS — BORN-AGAIN SELF-DISTILLATION (slurm-born-again-4529)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Born-Again Self-Distillation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Iterative MobileNet3D → MobileNet3D self-distillation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91"/>
                </a:solidFill>
                <a:latin typeface="Calibri"/>
              </a:rPr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Teacher: distilled MobileNet3D (Gen 0, KD T=8 → 64.31%)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T=2.5, α=0.5, β_s=β_t=0.05 — same arch → no interpolation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Keys identical: [2,4,6] → [2,4,6]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3 successive student generations trained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004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4800"/>
                </a:solidFill>
                <a:latin typeface="Calibri"/>
              </a:rPr>
              <a:t>Generational Collapse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547872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Gen 0 → Gen 1:  64.31% → 60.43%  (−3.88 pp)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Gen 1 → Gen 2:  60.43% → 60.98%  (+0.55 pp)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Gen 2 → Gen 3:  60.98% → 59.21%  (−1.77 pp)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Even with identical architecture (no interpolation),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the noisy soft targets from a ~65% teacher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corrupt successive generations. T=2.5 is poorly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calibrated for a low-confidence teacher.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91"/>
                </a:solidFill>
                <a:latin typeface="Calibri"/>
              </a:rPr>
              <a:t>Accuracy Across Generations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854616"/>
            <a:ext cx="822960" cy="2357463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58029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F3D91"/>
                </a:solidFill>
                <a:latin typeface="Calibri"/>
              </a:rPr>
              <a:t>64.31%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2578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Calibri"/>
              </a:rPr>
              <a:t>Gen 0
(Start)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37103"/>
            <a:ext cx="822960" cy="1374976"/>
          </a:xfrm>
          <a:prstGeom prst="rect">
            <a:avLst/>
          </a:prstGeom>
          <a:solidFill>
            <a:srgbClr val="55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562783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588CC"/>
                </a:solidFill>
                <a:latin typeface="Calibri"/>
              </a:rPr>
              <a:t>60.43%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2578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Calibri"/>
              </a:rPr>
              <a:t>Gen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3697833"/>
            <a:ext cx="822960" cy="1514246"/>
          </a:xfrm>
          <a:prstGeom prst="rect">
            <a:avLst/>
          </a:prstGeom>
          <a:solidFill>
            <a:srgbClr val="77A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423513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77AA55"/>
                </a:solidFill>
                <a:latin typeface="Calibri"/>
              </a:rPr>
              <a:t>60.98%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2578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Calibri"/>
              </a:rPr>
              <a:t>Gen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4146030"/>
            <a:ext cx="822960" cy="1066049"/>
          </a:xfrm>
          <a:prstGeom prst="rect">
            <a:avLst/>
          </a:prstGeom>
          <a:solidFill>
            <a:srgbClr val="E5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387171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54800"/>
                </a:solidFill>
                <a:latin typeface="Calibri"/>
              </a:rPr>
              <a:t>59.21%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52578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Calibri"/>
              </a:rPr>
              <a:t>Gen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07040" y="4077661"/>
            <a:ext cx="822960" cy="1134418"/>
          </a:xfrm>
          <a:prstGeom prst="rect">
            <a:avLst/>
          </a:prstGeom>
          <a:solidFill>
            <a:srgbClr val="44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0" y="3803341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44AA44"/>
                </a:solidFill>
                <a:latin typeface="Calibri"/>
              </a:rPr>
              <a:t>59.48%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52578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Calibri"/>
              </a:rPr>
              <a:t>Baseline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077661"/>
            <a:ext cx="5669280" cy="18288"/>
          </a:xfrm>
          <a:prstGeom prst="rect">
            <a:avLst/>
          </a:prstGeom>
          <a:solidFill>
            <a:srgbClr val="44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849061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AA44"/>
                </a:solidFill>
                <a:latin typeface="Calibri"/>
              </a:rPr>
              <a:t>── Baseline (59.48%)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6692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Root cause: noisy soft-targets from low-confidence teacher (64%) + miscalibrated temperature T=2.5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15/23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EFFICIENCY — CROSS-FRAME DISTILLATION (slurm-train-eval-4675)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Cross-Frame Distillation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Trading temporal resolution for wall-clock inference speed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91"/>
                </a:solidFill>
                <a:latin typeface="Calibri"/>
              </a:rPr>
              <a:t>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Processing 24 frames/clip is expensive for edge deployments.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A 16-frame student (Model B) reduces temporal compute by 33.3%.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Question: does this translate to real wall-clock speedup?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Benchmark on the full official test set (3,783 clips).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657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91"/>
                </a:solidFill>
                <a:latin typeface="Calibri"/>
              </a:rPr>
              <a:t>Benchmark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02336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Dataset: official UCF-101 test split (3,783 clips)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Metric: pure forward-pass latency (I/O excluded)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GPU: NVIDIA L40S (CUDA synchronization)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CPU: sub-sampled (50×BS=1, 20×BS=8)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Server: DMI Cluster gnode10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91"/>
                </a:solidFill>
                <a:latin typeface="Calibri"/>
              </a:rPr>
              <a:t>Model Comparison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920240"/>
            <a:ext cx="1828800" cy="384048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1920240"/>
            <a:ext cx="1737360" cy="384048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Model A (24f)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04120" y="1920240"/>
            <a:ext cx="1737360" cy="384048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19202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Model B (16f)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304288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3042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Frames / clip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2304288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30428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04120" y="2304288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230428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688336"/>
            <a:ext cx="18288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6883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Top-1 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2688336"/>
            <a:ext cx="17373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68833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65.85%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04120" y="2688336"/>
            <a:ext cx="17373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0" y="268833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62.68%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072384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07238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Accuracy gap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20" y="3072384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07238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04120" y="3072384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40" y="307238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−3.17 pp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456432"/>
            <a:ext cx="18288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4564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Frame reduction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3456432"/>
            <a:ext cx="17373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345643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04120" y="3456432"/>
            <a:ext cx="17373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345643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−33.3%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840480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8404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GPU speedup (BS≥8)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20" y="3840480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384048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1×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04120" y="3840480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49840" y="384048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~1.6×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4224528"/>
            <a:ext cx="18288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42245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CPU speedup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75320" y="4224528"/>
            <a:ext cx="17373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422452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1×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04120" y="4224528"/>
            <a:ext cx="17373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49840" y="422452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~1.57×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4608576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46085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GPU latency saved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75320" y="4608576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46085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04120" y="4608576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49840" y="46085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37–40%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4992624"/>
            <a:ext cx="18288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49926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CPU latency saved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75320" y="4992624"/>
            <a:ext cx="17373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21040" y="499262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04120" y="4992624"/>
            <a:ext cx="17373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49840" y="499262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35–37%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5376672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46520" y="53766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CPU BS=1 latency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75320" y="5376672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21040" y="537667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136.7 ms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04120" y="5376672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49840" y="537667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88.5 ms 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16/23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EFFICIENCY — GPU BENCHMARK | NVIDIA L40S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GPU Benchmark — NVIDIA L40S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Model A (24f) vs Model B (16f) — pure inference latency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pu_benchmark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1152144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4864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D91"/>
                </a:solidFill>
                <a:latin typeface="Calibri"/>
              </a:rPr>
              <a:t>GPU Results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833872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BS≥8 (saturated): Model B achieves 37–40% latency savings (1.59×–1.66× speedup), exceeding theoretical 33.3% due to better Tensor Core memory alignment.  BS=1: PCIe kernel launch overhead dominates → only ~11.5% saving.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17/23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EFFICIENCY — CPU BENCHMARK | CLUSTER HOST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CPU Benchmark — Cluster Host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Without PCIe overhead, speedup reflects pure arithmetic FLOP reduction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pu_benchmark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1152144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4864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D91"/>
                </a:solidFill>
                <a:latin typeface="Calibri"/>
              </a:rPr>
              <a:t>CPU Results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833872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Model B (16f): 136.70 ms → 88.51 ms at BS=1 (−35.3%), crossing below 100 ms real-time threshold.  At BS=8: 1.60× speedup (−37.3%). Ideal for CPU-only edge deployments.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18/23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EFFICIENCY — COMBINED BENCHMARK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GPU &amp; CPU — Combined Benchmark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bined_benchmark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1152144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2362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16-frame model achieves 37–40% GPU savings and 35–37% CPU savings at the cost of −3.17 pp accuracy vs 24-frame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19/23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EFFICIENCY — SPEED-ACCURACY TRADE-OFF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Speed-Accuracy Trade-off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2194560" cy="11887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2103120" cy="66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3D91"/>
                </a:solidFill>
                <a:latin typeface="Calibri"/>
              </a:rPr>
              <a:t>65.85%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9657"/>
            <a:ext cx="210312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Model A
Top-1 (24f, T=20)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7208" y="1600200"/>
            <a:ext cx="2194560" cy="11887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1645920"/>
            <a:ext cx="2103120" cy="66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54800"/>
                </a:solidFill>
                <a:latin typeface="Calibri"/>
              </a:rPr>
              <a:t>62.68%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289657"/>
            <a:ext cx="210312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Model B
Top-1 (16f, cross-frame)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02936" y="1600200"/>
            <a:ext cx="2194560" cy="11887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8656" y="1645920"/>
            <a:ext cx="2103120" cy="66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54800"/>
                </a:solidFill>
                <a:latin typeface="Calibri"/>
              </a:rPr>
              <a:t>−3.17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8656" y="2289657"/>
            <a:ext cx="210312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Δ Acc
pp vs Model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98664" y="1600200"/>
            <a:ext cx="2194560" cy="11887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44384" y="1645920"/>
            <a:ext cx="2103120" cy="66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3D91"/>
                </a:solidFill>
                <a:latin typeface="Calibri"/>
              </a:rPr>
              <a:t>1.6×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44384" y="2289657"/>
            <a:ext cx="210312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GPU ×
speedup at BS≥8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94392" y="1600200"/>
            <a:ext cx="2194560" cy="11887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40112" y="1645920"/>
            <a:ext cx="2103120" cy="66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3D91"/>
                </a:solidFill>
                <a:latin typeface="Calibri"/>
              </a:rPr>
              <a:t>~36%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0112" y="2289657"/>
            <a:ext cx="210312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CPU ↓
latency reduction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9260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91"/>
                </a:solidFill>
                <a:latin typeface="Calibri"/>
              </a:rPr>
              <a:t>Trade-off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29184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383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D91"/>
                </a:solidFill>
                <a:latin typeface="Calibri"/>
              </a:rPr>
              <a:t>Model A — Accuracy Focus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749039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✓ Best Top-1: 65.85% (+6.37 pp vs baseline)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✓ Best Top-5: 89.24% (+6.47 pp)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24 frames/clip — higher compute cost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Suitable for server-side inference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KD T=20, α=0.7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3383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D91"/>
                </a:solidFill>
                <a:latin typeface="Calibri"/>
              </a:rPr>
              <a:t>Model B — Efficiency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3749039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✓ BS=1 CPU latency: 88.5 ms (&lt;100 ms threshold)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✓ 1.6× GPU speedup at BS≥8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✓ Still +3.20 pp over scratch baseline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16 frames/clip — edge deployment ready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Ideal for mobile / real-time pipelines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383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4800"/>
                </a:solidFill>
                <a:latin typeface="Calibri"/>
              </a:rPr>
              <a:t>Key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749039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Saving 37–40% of latency costs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only 3.17 pp in accuracy vs Model A.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Model B still exceeds the scratch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baseline by +3.20 pp.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→ Excellent operating point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   for real-world deployment.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20/23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RESULTS OVERVIEW — ALL GROUP-AWARE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All Experiments — Best Eval Accuracy (Group-Aware)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ggregate_best_eval_a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1152144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6692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KD T=20 achieves best student eval accuracy (65.18% eval / 65.85% test). Teacher (ResNet-50) reaches 92.36% eval. All AT variants and Born-Again configurations fall below the best pure-KD 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21/23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Summary &amp; 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5394960" cy="1508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819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D91"/>
                </a:solidFill>
                <a:latin typeface="Calibri"/>
              </a:rPr>
              <a:t>Logit-Based KD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92808"/>
            <a:ext cx="521208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Effective and zero-overhead. Best config: T=20, α=0.7 → 65.85% Top-1 (+6.37 pp vs. scratch baseline 59.48%). Higher T smooths logits and exposes inter-class structure.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94960" cy="1508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5819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4800"/>
                </a:solidFill>
                <a:latin typeface="Calibri"/>
              </a:rPr>
              <a:t>Attention Transfer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92808"/>
            <a:ext cx="521208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Limited by depthwise ↔ standard conv mismatch. Spatial AT over-constrains student; temporal-only AT is the best variant (62.07%). All AT variants underperform pure KD T=20.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154680"/>
            <a:ext cx="5394960" cy="1508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278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4800"/>
                </a:solidFill>
                <a:latin typeface="Calibri"/>
              </a:rPr>
              <a:t>Born-Again Self-Distillation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38728"/>
            <a:ext cx="521208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Sensitive to teacher quality and temperature calibration. Noisy soft-targets from a ~65% teacher cause progressive generational collapse (64% → 59.21%).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54680"/>
            <a:ext cx="5394960" cy="1508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2278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D91"/>
                </a:solidFill>
                <a:latin typeface="Calibri"/>
              </a:rPr>
              <a:t>Cross-Frame Distillation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538728"/>
            <a:ext cx="521208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16-frame Model B achieves 1.6× GPU speedup and crosses 100 ms CPU threshold (88.5 ms/clip). −3.17 pp accuracy vs. Model A — an excellent operating point for edge deployment.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800600"/>
            <a:ext cx="11365992" cy="1691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64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Take-Away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93792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KD compresses a 3D ResNet-50 (~128 MB) into a MobileNet3D (~9.5 MB) achieving 65.85% Top-1 on UCF-101 (+6.37 pp over scratch). The 16-frame variant reduces inference by 37–40% on GPU with only −3.17 pp accuracy cost — an excellent operating point for real-world edge deployments.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22/23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5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ABB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29000"/>
            <a:ext cx="2743200" cy="36576"/>
          </a:xfrm>
          <a:prstGeom prst="rect">
            <a:avLst/>
          </a:prstGeom>
          <a:solidFill>
            <a:srgbClr val="E5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Daniele Barbagallo   ·   1000015334</a:t>
            </a:r>
          </a:p>
          <a:p>
            <a:pPr algn="l"/>
            <a:r>
              <a:rPr sz="1000" b="0">
                <a:solidFill>
                  <a:srgbClr val="8888BB"/>
                </a:solidFill>
                <a:latin typeface="Calibri"/>
              </a:rPr>
              <a:t>Deep Learning — Advanced Models and Methods</a:t>
            </a:r>
          </a:p>
          <a:p>
            <a:pPr algn="l"/>
            <a:r>
              <a:rPr sz="1000" b="0">
                <a:solidFill>
                  <a:srgbClr val="8888BB"/>
                </a:solidFill>
                <a:latin typeface="Calibri"/>
              </a:rPr>
              <a:t>Università di Catania — DMI   |   A.A. 2025/2026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29200"/>
            <a:ext cx="2103120" cy="118872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074920"/>
            <a:ext cx="210312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65.85%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18657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AACC"/>
                </a:solidFill>
                <a:latin typeface="Calibri"/>
              </a:rPr>
              <a:t>Best Top-1
(KD T=20)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6352" y="5029200"/>
            <a:ext cx="2103120" cy="118872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5074920"/>
            <a:ext cx="210312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1.6×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5718657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AACC"/>
                </a:solidFill>
                <a:latin typeface="Calibri"/>
              </a:rPr>
              <a:t>GPU Speedup
(Model 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4064" y="5029200"/>
            <a:ext cx="2103120" cy="118872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4064" y="5074920"/>
            <a:ext cx="210312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~9.5 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5718657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AACC"/>
                </a:solidFill>
                <a:latin typeface="Calibri"/>
              </a:rPr>
              <a:t>Student Size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51776" y="5029200"/>
            <a:ext cx="2103120" cy="118872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6" y="5074920"/>
            <a:ext cx="210312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&lt;89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6" y="5718657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AACC"/>
                </a:solidFill>
                <a:latin typeface="Calibri"/>
              </a:rPr>
              <a:t>CPU Latency
BS=1 (16f)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19488" y="5029200"/>
            <a:ext cx="2103120" cy="118872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9488" y="5074920"/>
            <a:ext cx="210312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+6.37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5718657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AACC"/>
                </a:solidFill>
                <a:latin typeface="Calibri"/>
              </a:rPr>
              <a:t>KD gain
vs scratch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23/23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