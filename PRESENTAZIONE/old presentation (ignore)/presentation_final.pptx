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6858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DEEP LEARNING: ADVANCED MODELS AND METHODS</a:t>
            </a:r>
          </a:p>
          <a:p>
            <a:pPr>
              <a:lnSpc>
                <a:spcPct val="115000"/>
              </a:lnSpc>
              <a:spcAft>
                <a:spcPts val="1800"/>
              </a:spcAft>
              <a:defRPr sz="3800" b="1">
                <a:solidFill>
                  <a:srgbClr val="F5F5FA"/>
                </a:solidFill>
                <a:latin typeface="Segoe UI"/>
              </a:defRPr>
            </a:pPr>
            <a:r>
              <a:t>Knowledge Distillation for</a:t>
            </a:r>
            <a:br/>
            <a:r>
              <a:t>Mobile Action Recognition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C8C8D7"/>
                </a:solidFill>
                <a:latin typeface="Segoe UI"/>
              </a:defRPr>
            </a:pPr>
            <a:r>
              <a:t>Compressing 3D ResNet-50 into MobileNet3D: Optimization, Attention Transfer, and Cross-Frame Distillation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46720" y="1097280"/>
            <a:ext cx="3383280" cy="466344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0" y="137160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1100" b="1">
                <a:solidFill>
                  <a:srgbClr val="2DD4BF"/>
                </a:solidFill>
                <a:latin typeface="Segoe UI"/>
              </a:defRPr>
            </a:pPr>
            <a:r>
              <a:t>PROJECT DETAILS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900" b="1">
                <a:solidFill>
                  <a:srgbClr val="9696A5"/>
                </a:solidFill>
                <a:latin typeface="Segoe UI"/>
              </a:defRPr>
            </a:pPr>
            <a:r>
              <a:t>AUTHOR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400" b="1">
                <a:solidFill>
                  <a:srgbClr val="F5F5FA"/>
                </a:solidFill>
                <a:latin typeface="Segoe UI"/>
              </a:defRPr>
            </a:pPr>
            <a:r>
              <a:t>Daniele Barbagallo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900" b="1">
                <a:solidFill>
                  <a:srgbClr val="9696A5"/>
                </a:solidFill>
                <a:latin typeface="Segoe UI"/>
              </a:defRPr>
            </a:pPr>
            <a:r>
              <a:t>STUDENT ID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400" b="1">
                <a:solidFill>
                  <a:srgbClr val="F5F5FA"/>
                </a:solidFill>
                <a:latin typeface="Segoe UI"/>
              </a:defRPr>
            </a:pPr>
            <a:r>
              <a:t>1000015334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900" b="1">
                <a:solidFill>
                  <a:srgbClr val="9696A5"/>
                </a:solidFill>
                <a:latin typeface="Segoe UI"/>
              </a:defRPr>
            </a:pPr>
            <a:r>
              <a:t>ADVISOR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400" b="1">
                <a:solidFill>
                  <a:srgbClr val="F5F5FA"/>
                </a:solidFill>
                <a:latin typeface="Segoe UI"/>
              </a:defRPr>
            </a:pPr>
            <a:r>
              <a:t>Prof. Antonino Furnari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900" b="1">
                <a:solidFill>
                  <a:srgbClr val="9696A5"/>
                </a:solidFill>
                <a:latin typeface="Segoe UI"/>
              </a:defRPr>
            </a:pPr>
            <a:r>
              <a:t>COURSE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400" b="1">
                <a:solidFill>
                  <a:srgbClr val="F5F5FA"/>
                </a:solidFill>
                <a:latin typeface="Segoe UI"/>
              </a:defRPr>
            </a:pPr>
            <a:r>
              <a:t>Deep Learning (AMM)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900" b="1">
                <a:solidFill>
                  <a:srgbClr val="9696A5"/>
                </a:solidFill>
                <a:latin typeface="Segoe UI"/>
              </a:defRPr>
            </a:pPr>
            <a:r>
              <a:t>INSTITUTION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400" b="1">
                <a:solidFill>
                  <a:srgbClr val="F5F5FA"/>
                </a:solidFill>
                <a:latin typeface="Segoe UI"/>
              </a:defRPr>
            </a:pPr>
            <a:r>
              <a:t>University of Catania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900" b="1">
                <a:solidFill>
                  <a:srgbClr val="9696A5"/>
                </a:solidFill>
                <a:latin typeface="Segoe UI"/>
              </a:defRPr>
            </a:pPr>
            <a:r>
              <a:t>DEPARTMENT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400" b="1">
                <a:solidFill>
                  <a:srgbClr val="F5F5FA"/>
                </a:solidFill>
                <a:latin typeface="Segoe UI"/>
              </a:defRPr>
            </a:pPr>
            <a:r>
              <a:t>DMI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900" b="1">
                <a:solidFill>
                  <a:srgbClr val="9696A5"/>
                </a:solidFill>
                <a:latin typeface="Segoe UI"/>
              </a:defRPr>
            </a:pPr>
            <a:r>
              <a:t>ACADEMIC YEAR</a:t>
            </a:r>
          </a:p>
          <a:p>
            <a:pPr>
              <a:lnSpc>
                <a:spcPct val="115000"/>
              </a:lnSpc>
              <a:spcAft>
                <a:spcPts val="1200"/>
              </a:spcAft>
              <a:defRPr sz="1400" b="1">
                <a:solidFill>
                  <a:srgbClr val="F5F5FA"/>
                </a:solidFill>
                <a:latin typeface="Segoe UI"/>
              </a:defRPr>
            </a:pPr>
            <a:r>
              <a:t>2025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5FA"/>
                </a:solidFill>
                <a:latin typeface="Segoe UI"/>
              </a:defRPr>
            </a:pPr>
            <a:r>
              <a:t>Project Objectives &amp; The Capacity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THE COMPRESSION CHALLENGE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Mobile Action Recognition: Video processing is computationally heavy, demanding compact and fast models for mobile or edge deployment.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Target: My objective is to compress a heavy 3D ResNet-50 Teacher (~128 MB, Kinetics-400 pretrained) into an ultra-lightweight MobileNet3D Student (~9.5 MB).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The Capacity Gap: When training the student baseline from scratch on raw labels, I observed a performance ceiling of 59.48% Test Top-1, resulting in a massive 29.34% gap with the Teacher (88.82%).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Strategy: I applied Knowledge Distillation (KD) to transfer the Teacher's dark knowledge and structural representations in order to bridge this gap.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645920"/>
            <a:ext cx="4663440" cy="41148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1920240"/>
            <a:ext cx="42976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5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ARCHITECTURAL COMPARISON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49440" y="2468880"/>
          <a:ext cx="42976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420"/>
                <a:gridCol w="1074420"/>
                <a:gridCol w="1074420"/>
                <a:gridCol w="1074420"/>
              </a:tblGrid>
              <a:tr h="6705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Top-1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Top-5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2DD4BF"/>
                          </a:solidFill>
                          <a:latin typeface="Segoe UI"/>
                        </a:defRPr>
                      </a:pPr>
                      <a:r>
                        <a:t>Teacher (3D R50)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128.0 MB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88.82%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98.18%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A78BFA"/>
                          </a:solidFill>
                          <a:latin typeface="Segoe UI"/>
                        </a:defRPr>
                      </a:pPr>
                      <a:r>
                        <a:t>Student Baseline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9.5 MB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59.48%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82.77%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949440" y="475488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9696A5"/>
                </a:solidFill>
                <a:latin typeface="Segoe UI"/>
              </a:defRPr>
            </a:pPr>
            <a:r>
              <a:t>The Teacher is ~13.5x larger than the Student baseline, presenting a clear compression opportunity via logit and attention alignment.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5FA"/>
                </a:solidFill>
                <a:latin typeface="Segoe UI"/>
              </a:defRPr>
            </a:pPr>
            <a:r>
              <a:t>Experimental Setup &amp; Group-Aware Dataset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TRAINING CONFIGURATION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Optimizer &amp; Schedule: I trained the students using the AdamW optimizer with a weight decay of 0.01 and a cosine annealing scheduler.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Learning Rates: I selected a base learning rate of 0.0005 for student runs and 0.0007 for teacher fine-tuning.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Training Budget: I trained the models for 60 epochs (adding a 10-epoch warmup for KD and AT runs where only Cross-Entropy loss is active).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Regularization &amp; Speed: I enabled AMP (Automatic Mixed Precision) and applied a label smoothing factor of 0.1.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Data Augmentation (Light): I applied a short-side resize to 128, a random crop to 112x112, random horizontal flip (0.5), color jitter (0.1), random erasing (0.05), and a max temporal stride of 1.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1148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GROUP-AWARE EVALUATION SPLIT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 b="1">
                <a:solidFill>
                  <a:srgbClr val="F5F5FA"/>
                </a:solidFill>
                <a:latin typeface="Segoe UI"/>
              </a:defRPr>
            </a:pPr>
            <a:r>
              <a:t>• Split Methodology: To address the absence of an internal evaluation set, I divided the training set in a wise, group-aware manner.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 b="0">
                <a:solidFill>
                  <a:srgbClr val="C8C8D7"/>
                </a:solidFill>
                <a:latin typeface="Segoe UI"/>
              </a:defRPr>
            </a:pPr>
            <a:r>
              <a:t>• Handling Video Groups: Since UCF-101 contains clips originating from the same source videos, a standard random split would cause data leakage. I grouped files by extracting video source identifiers (e.g. '_gXX_') via regex.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C8C8D7"/>
                </a:solidFill>
                <a:latin typeface="Segoe UI"/>
              </a:defRPr>
            </a:pPr>
            <a:r>
              <a:t>• Observation: By splitting at the video group level, I prevented data leakage. This yielded realistic validation metrics in the 60-65% range, providing a reliable proxy for true generalization.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KNOWLEDGE DISTILLATION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5FA"/>
                </a:solidFill>
                <a:latin typeface="Segoe UI"/>
              </a:defRPr>
            </a:pPr>
            <a:r>
              <a:t>Logit-Based Knowledge Distillation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METHODOLOGY &amp; OBSERVATIONS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Logit-Based KD: I combined standard Cross-Entropy on hard labels with KL Divergence on soft targets scaled by temperature T.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Warmup Strategy: I used a 10-epoch classification warmup using pure ground truth. I observed that this is crucial to stabilize scratch student weights before introducing soft targets.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Performance Boost: In the standard run (T=8, alpha=0.7), I observed a Test Top-1 improvement of +4.83% over the baseline student, reaching 64.31% with zero size overhead.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F5F5FA"/>
                </a:solidFill>
                <a:latin typeface="Segoe UI"/>
              </a:defRPr>
            </a:pPr>
            <a:r>
              <a:t>• Hyperparameters: I used T=8.0, alpha=0.7, BS=16 as the standard KD setup, while my optimal configuration was achieved at T=20.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1148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5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QUANTITATIVE PERFORMANCE COMPARISON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92240" y="2468880"/>
          <a:ext cx="4754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0976"/>
                <a:gridCol w="950976"/>
                <a:gridCol w="950976"/>
                <a:gridCol w="950976"/>
                <a:gridCol w="950976"/>
              </a:tblGrid>
              <a:tr h="5715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Val Top-1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Test Top-1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Test Top-5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Delta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Teacher (3D R50)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92.36%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88.82%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98.18%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Upper Bound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Student Baseline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59.18%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59.48%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82.77%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Reference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KD Student (T=8)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64.57%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2DD4BF"/>
                          </a:solidFill>
                          <a:latin typeface="Segoe UI"/>
                        </a:defRPr>
                      </a:pPr>
                      <a:r>
                        <a:t>64.31%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87.68%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+4.83%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48463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9696A5"/>
                </a:solidFill>
                <a:latin typeface="Segoe UI"/>
              </a:defRPr>
            </a:pPr>
            <a:r>
              <a:t>I observed that logit-based KD bridges the capacity gap by a solid margin without modifying the Student architecture size or latency.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KNOWLEDGE DISTILLATION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5FA"/>
                </a:solidFill>
                <a:latin typeface="Segoe UI"/>
              </a:defRPr>
            </a:pPr>
            <a:r>
              <a:t>Temperature Scaling Ablation Study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5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TEMPERATURE ABLATION SWEEP (ALPHA = 0.7)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468880"/>
          <a:ext cx="51206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128"/>
                <a:gridCol w="1024128"/>
                <a:gridCol w="1024128"/>
                <a:gridCol w="1024128"/>
                <a:gridCol w="1024128"/>
              </a:tblGrid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Temp (T)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Train Acc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Val Top-1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Test Top-1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Delta vs BL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T = 1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98.44%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62.75%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62.91%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+3.43%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T = 5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95.87%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63.12%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62.07%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+2.59%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T = 8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97.59%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64.57%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64.31%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+4.83%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T = 10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98.28%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64.85%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64.47%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+4.99%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T = 20 (Best)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99.05%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65.18%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2DD4BF"/>
                          </a:solidFill>
                          <a:latin typeface="Segoe UI"/>
                        </a:defRPr>
                      </a:pPr>
                      <a:r>
                        <a:t>65.85%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+6.37%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75120" y="1645920"/>
            <a:ext cx="47548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KEY TEMPERATURE OBSERVED TRENDS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 b="1">
                <a:solidFill>
                  <a:srgbClr val="F5F5FA"/>
                </a:solidFill>
                <a:latin typeface="Segoe UI"/>
              </a:defRPr>
            </a:pPr>
            <a:r>
              <a:t>• Best Configuration: I obtained the best results at temperature T=20, reaching a Test Top-1 accuracy of 65.85% (a +6.37% gain over the baseline scratch student).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00" b="0">
                <a:solidFill>
                  <a:srgbClr val="C8C8D7"/>
                </a:solidFill>
                <a:latin typeface="Segoe UI"/>
              </a:defRPr>
            </a:pPr>
            <a:r>
              <a:t>• Effect of Scaling: I observed that higher temperatures smooth the teacher's probability distributions. This exposes structural inter-class correlations that are easier for a lower-capacity student to mimic.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C8C8D7"/>
                </a:solidFill>
                <a:latin typeface="Segoe UI"/>
              </a:defRPr>
            </a:pPr>
            <a:r>
              <a:t>• Peak Limitation: At lower temperatures (T=1), the teacher's logits behave like hard targets. I observed that the student struggles to capture dark knowledge under this peaky distribution.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ADVANCED KD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5FA"/>
                </a:solidFill>
                <a:latin typeface="Segoe UI"/>
              </a:defRPr>
            </a:pPr>
            <a:r>
              <a:t>Attention Transfer: Debugging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FEATURE PAIRING &amp; THE 'KEY 5' BUG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Concept: I integrated spatial and temporal attention maps (using L2-normalized activations) into the distillation loss to guide intermediate student layers.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 b="1">
                <a:solidFill>
                  <a:srgbClr val="FBBF24"/>
                </a:solidFill>
                <a:latin typeface="Segoe UI"/>
              </a:defRPr>
            </a:pPr>
            <a:r>
              <a:t>• Bug Isolation: I debugged a silent issue where early configurations targeted block 5 of the Teacher (classification head, 2D). This yielded constant 1.0 attention maps, nullifying the loss.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Resolution: I resolved the bug by mapping stages with matching spatial dimensions: `[2,3,4]` of ResNet to `[2,4,6]` of MobileNet.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Configurations: I tested Symmetric AT (spatial/temporal beta=0.05) and Temporal-Only AT (temporal beta=0.10).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1148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OBSERVED REGRESSION &amp; ANALYSIS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92240" y="2377440"/>
          <a:ext cx="4754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/>
                <a:gridCol w="1584960"/>
                <a:gridCol w="1584960"/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Val Top-1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Delta vs KD (T=8)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KD (T=8, no AT)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64.57%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Reference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AT Symmetric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58.25%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BBF24"/>
                          </a:solidFill>
                          <a:latin typeface="Segoe UI"/>
                        </a:defRPr>
                      </a:pPr>
                      <a:r>
                        <a:t>-6.32%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AT Temporal-Only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59.04%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BBF24"/>
                          </a:solidFill>
                          <a:latin typeface="Segoe UI"/>
                        </a:defRPr>
                      </a:pPr>
                      <a:r>
                        <a:t>-5.53%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40233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I hypothesize that this regression is caused by: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 b="0">
                <a:solidFill>
                  <a:srgbClr val="C8C8D7"/>
                </a:solidFill>
                <a:latin typeface="Segoe UI"/>
              </a:defRPr>
            </a:pPr>
            <a:r>
              <a:t>1. Capacity Gap: The teacher's standard 3D convolutions generate rich spatial maps that the student's depthwise separable convolutions are structurally limited to capture.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C8C8D7"/>
                </a:solidFill>
                <a:latin typeface="Segoe UI"/>
              </a:defRPr>
            </a:pPr>
            <a:r>
              <a:t>2. Over-Regularization: Forcing student intermediate layers to strictly mimic the teacher acts as an excessive constraint, preventing convergence.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ADVANCED KD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5FA"/>
                </a:solidFill>
                <a:latin typeface="Segoe UI"/>
              </a:defRPr>
            </a:pPr>
            <a:r>
              <a:t>Born-Again Networks: Generational Collapse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ITERATIVE SELF-DISTILLATION SETUP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Method: I implemented iterative self-distillation (homogeneous MobileNet3D-to-MobileNet3D) for 3 successive generations to verify if the student could improve recursively.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Configurations: I used temperature T = 2.5, alpha = 0.7, the AdamW optimizer with a cosine scheduler, and light data augmentation.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Teacher Init (Gen 0): I selected the best-performing logit-distilled student (KD T=8, 64.31% Test Top-1) as the starting point for Gen 1 training.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1148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OBSERVED COLLAPSE &amp; ANALYSIS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92240" y="2286000"/>
          <a:ext cx="47548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Generation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Teacher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Test Top-1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Delta vs Gen 0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Gen 0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ResNet-50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64.31%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Reference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Gen 1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Gen 0 Student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60.98%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BBF24"/>
                          </a:solidFill>
                          <a:latin typeface="Segoe UI"/>
                        </a:defRPr>
                      </a:pPr>
                      <a:r>
                        <a:t>-3.33%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Gen 2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Gen 1 Student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60.43%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BBF24"/>
                          </a:solidFill>
                          <a:latin typeface="Segoe UI"/>
                        </a:defRPr>
                      </a:pPr>
                      <a:r>
                        <a:t>-3.88%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Gen 3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Gen 2 Student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59.21%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1000" b="1">
                          <a:solidFill>
                            <a:srgbClr val="FBBF24"/>
                          </a:solidFill>
                          <a:latin typeface="Segoe UI"/>
                        </a:defRPr>
                      </a:pPr>
                      <a:r>
                        <a:t>-5.10%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I observed a progressive performance collapse. The causes reside in: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 b="0">
                <a:solidFill>
                  <a:srgbClr val="C8C8D7"/>
                </a:solidFill>
                <a:latin typeface="Segoe UI"/>
              </a:defRPr>
            </a:pPr>
            <a:r>
              <a:t>1. Uncalibrated Temperature: The temperature parameter T=2.5, optimized for an oracle teacher (ResNet-50), produced overly flat probability distributions when applied to the less confident MobileNet3D teacher (64%), diluting the training signal.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C8C8D7"/>
                </a:solidFill>
                <a:latin typeface="Segoe UI"/>
              </a:defRPr>
            </a:pPr>
            <a:r>
              <a:t>2. Error Propagation: Without an oracle, systematic errors and artifacts accumulate and propagate across generations, leading to overfitting on predictions containing errors.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QUALITATIVE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5FA"/>
                </a:solidFill>
                <a:latin typeface="Segoe UI"/>
              </a:defRPr>
            </a:pPr>
            <a:r>
              <a:t>Latent Space Analysis via t-SNE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VISUALIZING LEARNED EMBEDDINGS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Method: I applied t-SNE dimensionality reduction to pre-classifier embeddings across 10 randomly selected classes.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Teacher (ResNet-50): The embeddings form compact, cleanly separated, and distinct semantic clusters.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Student Baseline: The embeddings show significant class overlap, fuzzy cluster boundaries, and mixed clusters.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400" b="1">
                <a:solidFill>
                  <a:srgbClr val="F5F5FA"/>
                </a:solidFill>
                <a:latin typeface="Segoe UI"/>
              </a:defRPr>
            </a:pPr>
            <a:r>
              <a:t>• Best Distilled Student (KD T=20): I observed that the T=20 distilled student exhibits tighter clusters and much cleaner semantic separation than the baseline, confirming that higher temperatures enhance structural knowledge transfer.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0" y="1645920"/>
            <a:ext cx="5577840" cy="41148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sne_temperature_t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991231"/>
            <a:ext cx="5394960" cy="14241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CROSS-FRAME DISTILLATION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5FA"/>
                </a:solidFill>
                <a:latin typeface="Segoe UI"/>
              </a:defRPr>
            </a:pPr>
            <a:r>
              <a:t>Cross-Frame Distillation for Edge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EFFICIENCY VS ACCURACY GOALS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Edge Constraint: Processing 24 frames per video clip is computationally expensive for real-time mobile and edge deployments.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 b="1">
                <a:solidFill>
                  <a:srgbClr val="F5F5FA"/>
                </a:solidFill>
                <a:latin typeface="Segoe UI"/>
              </a:defRPr>
            </a:pPr>
            <a:r>
              <a:t>• Cross-Frame Distillation: I designed a Model B that uses only 16 frames per clip, representing a 33.3% theoretical reduction in temporal computation compared to the 24-frame Model A.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Core Objective: I evaluated whether this computational reduction translates into actual wall-clock speedups on target hardware (GPU and CPU).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1148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BENCHMARK METRICS &amp; METHODOLOGY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Dataset &amp; Focus: I ran the benchmark on the official UCF-101 test set (3,783 clips) and measured the raw forward inference latency, excluding I/O.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CUDA Sync: I used PyTorch CUDA synchronization to ensure precise timing of asynchronous GPU kernels.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CPU Sampling: Due to the high cost of CPU inference, I sub-sampled CPU runs (50 batches for BS=1, 20 batches for BS=8) to prevent timeout while keeping statistically identical means.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CROSS-FRAME DISTILLATION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5FA"/>
                </a:solidFill>
                <a:latin typeface="Segoe UI"/>
              </a:defRPr>
            </a:pPr>
            <a:r>
              <a:t>GPU Inference Benchmark: NVIDIA L40S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GPU BENCHMARK (MS PER CLIP)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194560"/>
          <a:ext cx="51206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128"/>
                <a:gridCol w="1024128"/>
                <a:gridCol w="1024128"/>
                <a:gridCol w="1024128"/>
                <a:gridCol w="1024128"/>
              </a:tblGrid>
              <a:tr h="40233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Batch Size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Model A (24f)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Model B (16f)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Speedup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Saved Time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BS = 1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4.54 ms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2DD4BF"/>
                          </a:solidFill>
                          <a:latin typeface="Segoe UI"/>
                        </a:defRPr>
                      </a:pPr>
                      <a:r>
                        <a:t>4.02 ms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1.13x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11.49%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BS = 8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1.03 ms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2DD4BF"/>
                          </a:solidFill>
                          <a:latin typeface="Segoe UI"/>
                        </a:defRPr>
                      </a:pPr>
                      <a:r>
                        <a:t>0.62 ms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1.65x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39.32%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BS = 16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1.18 ms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2DD4BF"/>
                          </a:solidFill>
                          <a:latin typeface="Segoe UI"/>
                        </a:defRPr>
                      </a:pPr>
                      <a:r>
                        <a:t>0.74 ms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1.59x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37.15%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BS = 32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1.37 ms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2DD4BF"/>
                          </a:solidFill>
                          <a:latin typeface="Segoe UI"/>
                        </a:defRPr>
                      </a:pPr>
                      <a:r>
                        <a:t>0.82 ms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1.66x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39.69%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389120"/>
            <a:ext cx="51206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I observed that on GPU: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 b="0">
                <a:solidFill>
                  <a:srgbClr val="C8C8D7"/>
                </a:solidFill>
                <a:latin typeface="Segoe UI"/>
              </a:defRPr>
            </a:pPr>
            <a:r>
              <a:t>• Saturation: At batch sizes &gt;= 8, the GPU is fully saturated, yielding a 37%-40% speedup. This exceeds the linear 33.3% frame reduction due to better alignment of 16-frame blocks on Tensor Cores.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C8C8D7"/>
                </a:solidFill>
                <a:latin typeface="Segoe UI"/>
              </a:defRPr>
            </a:pPr>
            <a:r>
              <a:t>• Overhead: At BS=1, PCIe bus overhead dominates, limiting the speedup to 1.13x.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1148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pu_benchmark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661960"/>
            <a:ext cx="5029200" cy="208271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CROSS-FRAME DISTILLATION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5FA"/>
                </a:solidFill>
                <a:latin typeface="Segoe UI"/>
              </a:defRPr>
            </a:pPr>
            <a:r>
              <a:t>CPU Inference Benchmark: Host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CPU BENCHMARK (MS PER CLIP)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286000"/>
          <a:ext cx="51206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128"/>
                <a:gridCol w="1024128"/>
                <a:gridCol w="1024128"/>
                <a:gridCol w="1024128"/>
                <a:gridCol w="1024128"/>
              </a:tblGrid>
              <a:tr h="5486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Batch Size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Model A (24f)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Model B (16f)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Speedup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00" b="1">
                          <a:solidFill>
                            <a:srgbClr val="F5F5FA"/>
                          </a:solidFill>
                          <a:latin typeface="Segoe UI"/>
                        </a:defRPr>
                      </a:pPr>
                      <a:r>
                        <a:t>Saved Time</a:t>
                      </a:r>
                    </a:p>
                  </a:txBody>
                  <a:tcPr>
                    <a:solidFill>
                      <a:srgbClr val="2626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BS = 1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136.70 ms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2DD4BF"/>
                          </a:solidFill>
                          <a:latin typeface="Segoe UI"/>
                        </a:defRPr>
                      </a:pPr>
                      <a:r>
                        <a:t>88.51 ms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1.54x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35.26%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BS = 8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C8C8D7"/>
                          </a:solidFill>
                          <a:latin typeface="Segoe UI"/>
                        </a:defRPr>
                      </a:pPr>
                      <a:r>
                        <a:t>113.51 ms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0">
                          <a:solidFill>
                            <a:srgbClr val="2DD4BF"/>
                          </a:solidFill>
                          <a:latin typeface="Segoe UI"/>
                        </a:defRPr>
                      </a:pPr>
                      <a:r>
                        <a:t>71.13 ms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1.60x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37.33%</a:t>
                      </a:r>
                    </a:p>
                  </a:txBody>
                  <a:tcPr>
                    <a:solidFill>
                      <a:srgbClr val="1A1A2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206240"/>
            <a:ext cx="512064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I observed that on CPU:</a:t>
            </a:r>
          </a:p>
          <a:p>
            <a:pPr>
              <a:lnSpc>
                <a:spcPct val="115000"/>
              </a:lnSpc>
              <a:spcAft>
                <a:spcPts val="400"/>
              </a:spcAft>
              <a:defRPr sz="1100" b="0">
                <a:solidFill>
                  <a:srgbClr val="C8C8D7"/>
                </a:solidFill>
                <a:latin typeface="Segoe UI"/>
              </a:defRPr>
            </a:pPr>
            <a:r>
              <a:t>• Arithmetic Scaling: Without PCIe bus delays, the speedup directly reflects the reduction in arithmetic FLOPs.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C8C8D7"/>
                </a:solidFill>
                <a:latin typeface="Segoe UI"/>
              </a:defRPr>
            </a:pPr>
            <a:r>
              <a:t>• Real-Time Target: Reducing latency (BS=1) from 136.7 ms to 88.5 ms (below the 100 ms threshold) makes the 16f model highly suitable for real-time edge processing.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1148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pu_benchmark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667424"/>
            <a:ext cx="5029200" cy="20717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Segoe UI"/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5F5FA"/>
                </a:solidFill>
                <a:latin typeface="Segoe UI"/>
              </a:defRPr>
            </a:pPr>
            <a:r>
              <a:t>Conclusions &amp; Speed-Accuracy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THE SPEED-ACCURACY TRADE-OFF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Model A (24f, Best KD T=20): Reached 65.85% Test Top-1 (a substantial +6.37% gain over the baseline scratch student).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Model B (16f, Cross-Frame KD): Reached 62.68% Test Top-1.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400" b="1">
                <a:solidFill>
                  <a:srgbClr val="F5F5FA"/>
                </a:solidFill>
                <a:latin typeface="Segoe UI"/>
              </a:defRPr>
            </a:pPr>
            <a:r>
              <a:t>• Trade-off Evaluation: Saving 37%-40% in latency/FLOPs costs only 3.17% in Test Top-1 compared to Model A.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C8C8D7"/>
                </a:solidFill>
                <a:latin typeface="Segoe UI"/>
              </a:defRPr>
            </a:pPr>
            <a:r>
              <a:t>• Net Improvement: Model B (16f) still outperforms the original Model A baseline from scratch (59.48%) by a solid +3.20% while executing significantly faster.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114800"/>
          </a:xfrm>
          <a:prstGeom prst="roundRect">
            <a:avLst>
              <a:gd name="adj" fmla="val 5000"/>
            </a:avLst>
          </a:prstGeom>
          <a:solidFill>
            <a:srgbClr val="1A1A24"/>
          </a:solidFill>
          <a:ln w="12700">
            <a:solidFill>
              <a:srgbClr val="2D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 sz="1200" b="1">
                <a:solidFill>
                  <a:srgbClr val="2DD4BF"/>
                </a:solidFill>
                <a:latin typeface="Segoe UI"/>
              </a:defRPr>
            </a:pPr>
            <a:r>
              <a:t>KEY SUMMARY TAKEAWAYS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50" b="0">
                <a:solidFill>
                  <a:srgbClr val="C8C8D7"/>
                </a:solidFill>
                <a:latin typeface="Segoe UI"/>
              </a:defRPr>
            </a:pPr>
            <a:r>
              <a:t>• I observed that logit-based KD is a powerful, zero-overhead method. Higher temperatures (T=20) are critical to soften representations and bridge large capacity gaps.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50" b="0">
                <a:solidFill>
                  <a:srgbClr val="C8C8D7"/>
                </a:solidFill>
                <a:latin typeface="Segoe UI"/>
              </a:defRPr>
            </a:pPr>
            <a:r>
              <a:t>• I observed that Attention Transfer is limited by architectural heterogeneity (standard vs depthwise convolutions) and risks over-regularization.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350" b="0">
                <a:solidFill>
                  <a:srgbClr val="C8C8D7"/>
                </a:solidFill>
                <a:latin typeface="Segoe UI"/>
              </a:defRPr>
            </a:pPr>
            <a:r>
              <a:t>• I observed that Self-Distillation (BAN) is highly sensitive to temperature and prone to generational collapse when the teacher is not an oracle.</a:t>
            </a:r>
          </a:p>
          <a:p>
            <a:pPr>
              <a:lnSpc>
                <a:spcPct val="115000"/>
              </a:lnSpc>
              <a:spcAft>
                <a:spcPts val="0"/>
              </a:spcAft>
              <a:defRPr sz="1350" b="1">
                <a:solidFill>
                  <a:srgbClr val="F5F5FA"/>
                </a:solidFill>
                <a:latin typeface="Segoe UI"/>
              </a:defRPr>
            </a:pPr>
            <a:r>
              <a:t>• I conclude that Cross-Frame Distillation provides an outstanding Pareto-optimal trade-off for practical mobile/edge real-time deployments.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