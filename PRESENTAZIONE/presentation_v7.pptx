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Eval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7630</c:v>
                </c:pt>
                <c:pt idx="1">
                  <c:v>1907</c:v>
                </c:pt>
                <c:pt idx="2">
                  <c:v>3783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0-4D27-AE21-CFE67FDAA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AABBFF"/>
                </a:solidFill>
                <a:latin typeface="Calibri"/>
              </a:rPr>
              <a:t>for Mobile Action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Compressing a 3D ResNet-50 teacher into a MobileNet3D student
for efficient video action recognition on UCF-101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99FF"/>
                </a:solidFill>
                <a:latin typeface="Calibri"/>
              </a:rPr>
              <a:t>DEEP LEARNING — ADVANCED MODELS AND METHODS</a:t>
            </a:r>
          </a:p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Daniele Barbagallo   |   Student ID 1000015334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Università di Catania — DMI   |   A.A. 2025/2026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Advisor: Prof. Antonino Furnari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1133856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✓ 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Compress a 3D ResNet-50 teacher (~128 MB, pretrained on Kinetics-400)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into a MobileNet3D student (~9.5 MB) for on-device video action recognition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on UCF-101 (101 classes) at zero size overhead.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108960"/>
            <a:ext cx="11338560" cy="2926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4800"/>
                </a:solidFill>
                <a:latin typeface="Calibri"/>
              </a:rPr>
              <a:t>📉  Capacity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45720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3D91"/>
                </a:solidFill>
                <a:latin typeface="Calibri"/>
              </a:rPr>
              <a:t>88.82%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Teacher Top-1 (ResNet-50)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840480"/>
            <a:ext cx="45720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55555"/>
                </a:solidFill>
                <a:latin typeface="Calibri"/>
              </a:rPr>
              <a:t>59.48%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Baseline Student Top-1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3545"/>
                </a:solidFill>
                <a:latin typeface="Calibri"/>
              </a:rPr>
              <a:t>Gap: −29.3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Size Ratio: 13.5×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Dataset &amp; Group-Aware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65760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UCF-101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101 action classes</a:t>
            </a:r>
          </a:p>
          <a:p>
            <a:pPr algn="l">
              <a:lnSpc>
                <a:spcPts val="24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13,320 video clips (YouTube)</a:t>
            </a:r>
          </a:p>
          <a:p>
            <a:pPr algn="l">
              <a:lnSpc>
                <a:spcPts val="24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24 frames/clip (112×112)</a:t>
            </a:r>
          </a:p>
          <a:p>
            <a:pPr algn="l">
              <a:lnSpc>
                <a:spcPts val="24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Test split: 3,783 clips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7498079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7498079" cy="54864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Group-Aware Eval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UCF-101 contains clips extracted from the same original source videos.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Standard random splitting results in data leakage, creating overly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optimistic, fake validation metrics.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The training set was split in a wise, group-aware manner based on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source video IDs (extracted via regex, e.g. '_gXX_') to obtain an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internal evaluation set which was otherwise absent.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89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54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Evaluation set metrics dropped from fictitiously high values to a realistic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60-65% validation range, exposing the true generalization gap and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ensuring reliable hyperparameter tuning.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229600" y="3840480"/>
          <a:ext cx="3200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Training Configuration &amp; Light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530352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Model Training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Student (MobileNet3D):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Optimizer: AdamW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Learning Rate: 5e-4 (Cosine Schedule)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Epochs: 60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Batch Size: 16 (with AMP)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Label Smoothing: 0.1</a:t>
            </a:r>
          </a:p>
          <a:p>
            <a:pPr algn="l">
              <a:lnSpc>
                <a:spcPts val="2000"/>
              </a:lnSpc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Teacher (ResNet-50):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Optimizer: SGD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Learning Rate: 7e-4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Epochs: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576072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4800"/>
                </a:solidFill>
                <a:latin typeface="Calibri"/>
              </a:rPr>
              <a:t>Light Augmentation (lightaug)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To combat overfitting caused by the small dataset size (13k clips) and the fact that the MobileNet3D student is trained from scratch:</a:t>
            </a:r>
          </a:p>
          <a:p>
            <a:pPr algn="l">
              <a:lnSpc>
                <a:spcPts val="2200"/>
              </a:lnSpc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A 'light augmentation' pipeline was introduced: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Random Horizontal Flip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Random Crop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Color Jitter (Brightness/Contrast/Saturation)</a:t>
            </a:r>
          </a:p>
          <a:p>
            <a:pPr algn="l">
              <a:lnSpc>
                <a:spcPts val="2200"/>
              </a:lnSpc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This pipeline significantly helped the student generalize better to the unseen validation and test 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Method — Logit-Based KD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Temperature-scaled soft targets from teacher logits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743200" cy="1371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  <a:latin typeface="Calibri"/>
              </a:rPr>
              <a:t>Teacher
ResNet-50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286000"/>
            <a:ext cx="274320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  <a:latin typeface="Calibri"/>
              </a:rPr>
              <a:t>Student
MobileNet3D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3D91"/>
                </a:solidFill>
                <a:latin typeface="Calibri"/>
              </a:rPr>
              <a:t>KL Divergence Loss
(Temperature T, Weight 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Ground Truth Labels: Hard 0/1 targets (Cross-Entropy).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Teacher Soft Targets: Teacher logits smoothed by Temperature T.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KD Warmup: Train with Cross-Entropy only for 10 epochs, then introduce KD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Top-1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stillation_histogram_test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54480"/>
            <a:ext cx="73152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KD T=20 achieves 65.85% (+6.37 pp vs baseline 59.48%). Performance is monotonically non-decreasing with temperature. AT symmetric and Born-Again Gen3 fall below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Top-5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stillation_histogram_tes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54480"/>
            <a:ext cx="73152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KD T=20 also achieves best Top-5: 89.24% (+6.47 pp vs baseline 82.77%). Soft targets consistently improve ranking quality across all temperature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Temperature Ablation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11338560" cy="1463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The Role of Temperature 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Higher temperatures smooth out the predicted class distributions of the teacher.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This reveals rich 'dark knowledge' about inter-class relationships (e.g., how similar running is to jogging),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which provides a much denser training signal than one-hot labels.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91840"/>
            <a:ext cx="53035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8A745"/>
                </a:solidFill>
                <a:latin typeface="Calibri"/>
              </a:rPr>
              <a:t>✓ Optimal Balance: T=20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T=20 yields the optimal balance: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It softens the logits enough to effectively transfer structural relationships without completely washing out the primary class signal.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Achieves the peak 65.85% Top-1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291840"/>
            <a:ext cx="53035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3545"/>
                </a:solidFill>
                <a:latin typeface="Calibri"/>
              </a:rPr>
              <a:t>⚠️ Extreme Temperatures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Pushing T even higher starts to degrade performance due to over-smoothing.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Specific classes that rely on sharp, distinct visual boundaries (e.g., Hammering or PizzaTossing) suffer because their unique features get blended with noise.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ANALYSIS — LATENT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t-SNE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Pre-classifier embeddings for 10 random UCF-101 classes (KD T=20)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11795760" cy="4114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Teacher (ResNet-50): Compact, well-separated | Baseline MobileNet3D: Significant inter-class overlap | Distilled Student: Tighter clusters, improved class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BEST EXPERIMENT — KD T=20 | Training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Training Curves — KD T=20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Loss and Top-1/Top-5 accuracy over 60 epochs + cosine LR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645920"/>
            <a:ext cx="8961120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26880" y="1645920"/>
            <a:ext cx="256032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Overfitting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Overfitting is observed in the curves.</a:t>
            </a:r>
          </a:p>
          <a:p>
            <a:pPr algn="l">
              <a:lnSpc>
                <a:spcPts val="1600"/>
              </a:lnSpc>
            </a:pPr>
            <a:endParaRPr sz="12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This is due to the small size of the UCF-101 dataset and because the student MobileNet3D is trained from scratch (unlike the pre-trained ResNet-50 teacher).</a:t>
            </a:r>
          </a:p>
          <a:p>
            <a:pPr algn="l">
              <a:lnSpc>
                <a:spcPts val="1600"/>
              </a:lnSpc>
            </a:pPr>
            <a:endParaRPr sz="12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To combat this, 'lightaug' (light data augmentation) was introduced.</a:t>
            </a:r>
          </a:p>
          <a:p>
            <a:pPr algn="l">
              <a:lnSpc>
                <a:spcPts val="1600"/>
              </a:lnSpc>
            </a:pPr>
            <a:endParaRPr sz="12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This helped the student generalize better to the validation set, even though it resulted in a slightly higher training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KD T=20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Confusion Matrix — KD T=20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All 101 UCF-101 classes on the official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5029200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1645920"/>
            <a:ext cx="62179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0" y="1645920"/>
            <a:ext cx="6217920" cy="54864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Analytical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Highly Diagonal Structure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The strong diagonal visually confirms the solid overall performance (65.85% Top-1) and effective learning across the majority of the 101 classes.</a:t>
            </a:r>
          </a:p>
          <a:p>
            <a:pPr algn="l">
              <a:lnSpc>
                <a:spcPts val="1800"/>
              </a:lnSpc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8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Persistent Confusions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Actions with highly similar visual appearance or overlapping semantic context (e.g., HandstandWalking vs. MoppingFloor) remain challenging and form visible off-diagonal clusters.</a:t>
            </a:r>
          </a:p>
          <a:p>
            <a:pPr algn="l">
              <a:lnSpc>
                <a:spcPts val="1800"/>
              </a:lnSpc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8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Success of Distillation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KD successfully resolved boundaries for many previously confused classes. The teacher's soft targets effectively guided the student through subtle motion boundaries that were missed when training from scratch.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BASELINE vs BEST (KD T=20)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Confusion Matrix — Top 25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Comparison: Baseline (left) vs KD T=20 (right)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548640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303520" cy="3931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Baseline MobileNet3D — 59.48% Top-1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645920"/>
            <a:ext cx="5303520" cy="3931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KD T=20 (Best) — 65.85% Top-1  (+6.37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TOP 5 ERRORS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Error Analysis — Top 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Relationship between baseline and distillation (KD T=20) top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566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474720" cy="563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8A745"/>
                </a:solidFill>
                <a:latin typeface="Calibri"/>
              </a:rPr>
              <a:t>+65.7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7867"/>
            <a:ext cx="347472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Accuracy Gain (0% → 65.7%)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WallPushups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600200"/>
            <a:ext cx="3474720" cy="563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3545"/>
                </a:solidFill>
                <a:latin typeface="Calibri"/>
              </a:rPr>
              <a:t>-9.1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37867"/>
            <a:ext cx="347472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Accuracy Drop (12.1% → 3.0%)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54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Hammering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554480"/>
            <a:ext cx="3566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9" y="1600200"/>
            <a:ext cx="3474720" cy="563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Top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137867"/>
            <a:ext cx="347472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Persistent difficulty (~94% error)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HandstandWalking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743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Relationship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00400"/>
            <a:ext cx="3566160" cy="3017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Shared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HandstandWalking and Nunchucks remain in the top 5 errors for both models.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These classes feature rapid, complex sequences that remain hard to capture.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Persistent confusions: MoppingFloor is heavily confused with HandstandWalking in both.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200400"/>
            <a:ext cx="3566160" cy="3017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Greatest Successes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KD regularizes baseline's worst classes by providing soft targets (WallPushups 0%→65%).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Teacher soft logits guide the student through subtle motion boundaries.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Clear confusions like JumpRope vs JumpingJack fall from 18.4% to 0%.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200400"/>
            <a:ext cx="3566160" cy="3017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Unexpected Regressions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576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Distillation degrades classes requiring fine-grained or fast periodic cues (e.g. Hammering, PizzaTossing).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Over-smoothing: At T=20, soft targets smooth out fine visual details like shape.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Hammering gets confused with PlayingSitar.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— KD IMPACT PER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KD T=20 vs Baseline — Per-Class Accuracy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Top improvements and regressions across UCF-101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lta_accuracy_kd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82296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869680" y="1554480"/>
            <a:ext cx="292608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1168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1" dirty="0">
                <a:solidFill>
                  <a:srgbClr val="28A745"/>
                </a:solidFill>
                <a:latin typeface="Calibri"/>
              </a:rPr>
              <a:t>Top gains:</a:t>
            </a:r>
          </a:p>
          <a:p>
            <a:pPr algn="l">
              <a:lnSpc>
                <a:spcPts val="1200"/>
              </a:lnSpc>
            </a:pPr>
            <a:r>
              <a:rPr sz="1000" b="0" dirty="0" err="1">
                <a:solidFill>
                  <a:srgbClr val="1A1A2E"/>
                </a:solidFill>
                <a:latin typeface="Calibri"/>
              </a:rPr>
              <a:t>WallPushups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+65.7%</a:t>
            </a:r>
          </a:p>
          <a:p>
            <a:pPr algn="l">
              <a:lnSpc>
                <a:spcPts val="1200"/>
              </a:lnSpc>
            </a:pPr>
            <a:r>
              <a:rPr sz="1000" b="0" dirty="0" err="1">
                <a:solidFill>
                  <a:srgbClr val="1A1A2E"/>
                </a:solidFill>
                <a:latin typeface="Calibri"/>
              </a:rPr>
              <a:t>HeadMassage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+29.3%</a:t>
            </a:r>
          </a:p>
          <a:p>
            <a:pPr algn="l">
              <a:lnSpc>
                <a:spcPts val="1200"/>
              </a:lnSpc>
            </a:pPr>
            <a:r>
              <a:rPr sz="1000" b="0" dirty="0" err="1">
                <a:solidFill>
                  <a:srgbClr val="1A1A2E"/>
                </a:solidFill>
                <a:latin typeface="Calibri"/>
              </a:rPr>
              <a:t>JavelinThrow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+29.0%</a:t>
            </a:r>
          </a:p>
          <a:p>
            <a:pPr algn="l">
              <a:lnSpc>
                <a:spcPts val="12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Drumming +28.9%</a:t>
            </a:r>
          </a:p>
          <a:p>
            <a:pPr algn="l">
              <a:lnSpc>
                <a:spcPts val="1200"/>
              </a:lnSpc>
            </a:pPr>
            <a:endParaRPr sz="1000" b="0" dirty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2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Winners share subtle motion patterns that the teacher's soft logits clarify.</a:t>
            </a:r>
          </a:p>
          <a:p>
            <a:pPr algn="l">
              <a:lnSpc>
                <a:spcPts val="1200"/>
              </a:lnSpc>
            </a:pPr>
            <a:endParaRPr sz="1000" b="0" dirty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200"/>
              </a:lnSpc>
            </a:pPr>
            <a:r>
              <a:rPr sz="1100" b="1" dirty="0">
                <a:solidFill>
                  <a:srgbClr val="DC3545"/>
                </a:solidFill>
                <a:latin typeface="Calibri"/>
              </a:rPr>
              <a:t>Regressions:</a:t>
            </a:r>
          </a:p>
          <a:p>
            <a:pPr algn="l">
              <a:lnSpc>
                <a:spcPts val="1200"/>
              </a:lnSpc>
            </a:pPr>
            <a:r>
              <a:rPr sz="1000" b="0" dirty="0" err="1">
                <a:solidFill>
                  <a:srgbClr val="1A1A2E"/>
                </a:solidFill>
                <a:latin typeface="Calibri"/>
              </a:rPr>
              <a:t>JumpingJack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−16.2%</a:t>
            </a:r>
          </a:p>
          <a:p>
            <a:pPr algn="l">
              <a:lnSpc>
                <a:spcPts val="1200"/>
              </a:lnSpc>
            </a:pPr>
            <a:r>
              <a:rPr sz="1000" b="0" dirty="0" err="1">
                <a:solidFill>
                  <a:srgbClr val="1A1A2E"/>
                </a:solidFill>
                <a:latin typeface="Calibri"/>
              </a:rPr>
              <a:t>TennisSwing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−14.3%</a:t>
            </a:r>
          </a:p>
          <a:p>
            <a:pPr algn="l">
              <a:lnSpc>
                <a:spcPts val="1200"/>
              </a:lnSpc>
            </a:pPr>
            <a:endParaRPr sz="1000" b="0" dirty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2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High-energy periodical actions where teacher soft targets add noise vs. one-hot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Attention Transfer (AT)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Aligning spatial/temporal activation maps across network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1133856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L2-normalized squared activation maps from matched stages aligned between teacher (ResNet-50) and student.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Loss = L_KD + β_s·L_AT_spatial + β_t·L_AT_temporal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34640"/>
            <a:ext cx="11338560" cy="12801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800"/>
                </a:solidFill>
                <a:latin typeface="Calibri"/>
              </a:rPr>
              <a:t>Bug Fixed: Key-5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Initial config: block [3,4,5] of teacher. Block 5 = classification head (2D) → constant attention map at 1.0 → AT loss silently vanished.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Fix: mapping [2,3,4]→[2,4,6] (ResNet→MobileNet). Stages share spatial resolutions: 28×28, 14×14, 7×7.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976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Results (Group-Aware Protocol, slurm-4601)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64.58%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AT Symmetric (β_s=0.05, β_t=0.05)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65.03%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AT Temporal-Only (β_s=0)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3D91"/>
                </a:solidFill>
                <a:latin typeface="Calibri"/>
              </a:rPr>
              <a:t>Pure KD T=20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Qualitative AT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Latent space representations for AT 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AT Symmetric</a:t>
            </a:r>
          </a:p>
        </p:txBody>
      </p:sp>
      <p:pic>
        <p:nvPicPr>
          <p:cNvPr id="8" name="Picture 7" descr="tsne_teacher_baseline_distill_at_sym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54864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AT Temporal</a:t>
            </a:r>
          </a:p>
        </p:txBody>
      </p:sp>
      <p:pic>
        <p:nvPicPr>
          <p:cNvPr id="10" name="Picture 9" descr="tsne_teacher_baseline_distill_at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5486400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Interpretation: Spatial AT alignment is limited by depthwise ↔ standard conv gap, introducing noise. Temporal-only AT avoids spatial distortion.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BORN-AGAIN SELF-DISTILLATION (slurm-born-again-4529)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Iterative MobileNet3D → MobileNet3D self-distillation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282696" cy="1371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66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980944" cy="98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Teacher: distilled MobileNet3D (Gen 0, 64.31%)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Same arch → no interpolation needed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Keys identical: [2,4,6] → [2,4,6]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3 successive student generations trained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08960"/>
            <a:ext cx="4828032" cy="1554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54800"/>
                </a:solidFill>
                <a:latin typeface="Calibri"/>
              </a:rPr>
              <a:t>Temperature Choice (T=2.5)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4690872" cy="80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Temperature was intentionally set very low (T=2.5) because the self-distillation teacher has a much lower confidence (~64%) compared to ResNet.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A high temperature would have over-smoothed the already-smooth logits and destroyed remaining sharp boundaries.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554480"/>
            <a:ext cx="57607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1554480"/>
            <a:ext cx="5760720" cy="54864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Generational Collapse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860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Gen 0 (Teacher): 64.31%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Gen 1:  60.43%  (−3.88 pp)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Gen 2:  60.98%  (+0.55 pp)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Gen 3:  59.21%  (−1.77 pp)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Baseline: 59.48%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9377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3545"/>
                </a:solidFill>
                <a:latin typeface="Calibri"/>
              </a:rPr>
              <a:t>Root cause: Even with T=2.5, noisy soft-targets from a low-confidence teacher corrupt successive generations.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CROSS-FRAME DISTILLATION (slurm-train-eval-4675)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Cross-Frame 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Trading temporal resolution for wall-clock inference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1133856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Processing 24 frames/clip is expensive for edge deployments.</a:t>
            </a:r>
          </a:p>
          <a:p>
            <a:pPr algn="l">
              <a:lnSpc>
                <a:spcPts val="18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A 16-frame student (Model B) reduces temporal compute by 33.3%.</a:t>
            </a:r>
          </a:p>
          <a:p>
            <a:pPr algn="l">
              <a:lnSpc>
                <a:spcPts val="18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Question: does this translate to real wall-clock speedup?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089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Model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657600"/>
            <a:ext cx="4114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Model A (24f)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Frames / clip: 24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Top-1 Test: 65.85%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GPU latency: 1x baseline</a:t>
            </a:r>
          </a:p>
          <a:p>
            <a:pPr algn="l">
              <a:lnSpc>
                <a:spcPts val="20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CPU latency: 1x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3657600"/>
            <a:ext cx="4114800" cy="2286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5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4800"/>
                </a:solidFill>
                <a:latin typeface="Calibri"/>
              </a:rPr>
              <a:t>Model B (16f)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4389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Frames / clip: 16 (-33.3%)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Top-1 Test: 62.68% (-3.17 pp)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GPU Speedup: ~1.6x (BS≥8)</a:t>
            </a: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• CPU Speedup: ~1.57x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GPU BENCHMARK | NVIDIA L40S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GPU Benchmark — NVIDIA L40S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Model A (24f) vs Model B (16f) — pure inference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10058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GPU Results Summary: BS≥8 (saturated): Model B achieves 37–40% latency savings (1.59×–1.66× speedup), exceeding theoretical 33.3% due to better Tensor Core memory alignment. BS=1: PCIe kernel launch overhead dominates → only ~11.5% saving.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CPU BENCHMARK | CLUSTER 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CPU Benchmark — Cluster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Without PCIe overhead, speedup reflects pure arithmetic FLOP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10058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CPU Results Summary: Model B (16f): 136.70 ms → 88.51 ms at BS=1 (−35.3%), crossing below 100 ms real-time threshold. At BS=8: 1.60× speedup (−37.3%). Ideal for CPU-only edge deployments.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SPEED-ACCURACY TRADE-OFF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Speed-Accuracy Trade-off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2286000" cy="1371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Model A Top-1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554480"/>
            <a:ext cx="2286000" cy="1371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62.68%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Model B Top-1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3545"/>
                </a:solidFill>
                <a:latin typeface="Calibri"/>
              </a:rPr>
              <a:t>−3.17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Δ Acc vs Model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554480"/>
            <a:ext cx="2286000" cy="1371600"/>
          </a:xfrm>
          <a:prstGeom prst="rect">
            <a:avLst/>
          </a:prstGeom>
          <a:solidFill>
            <a:srgbClr val="FFF3E0"/>
          </a:solidFill>
          <a:ln w="19050">
            <a:solidFill>
              <a:srgbClr val="E5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8A745"/>
                </a:solidFill>
                <a:latin typeface="Calibri"/>
              </a:rPr>
              <a:t>1.6×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GPU Speedup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291840"/>
            <a:ext cx="3840480" cy="2926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Model A — Accuracy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9319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✓ Best Top-1: 65.85% (+6.37 pp)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✓ Best Top-5: 89.24% (+6.47 pp)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• 24 frames/clip — higher compute cost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• Suitable for server-side inference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• KD T=20, α=0.7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9672" y="3291840"/>
            <a:ext cx="3840480" cy="2926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02552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Model B — Efficiency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9319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✓ BS=1 CPU latency: 88.5 ms (&lt;100 ms)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✓ 1.6× GPU speedup at BS≥8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✓ Still +3.20 pp over scratch baseline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• 16 frames/clip — edge deployment ready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1A1A2E"/>
                </a:solidFill>
                <a:latin typeface="Calibri"/>
              </a:rPr>
              <a:t>• Ideal for mobile / real-time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Summary &amp;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1133856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Logit-Based 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Effective and zero-overhead. Best config: T=20, α=0.7 → 65.85% Top-1 (+6.37 pp vs. scratch baseline 59.48%). Higher T smooths logits and exposes inter-class 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51760"/>
            <a:ext cx="1133856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Attention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Limited by depthwise ↔ standard conv mismatch. Spatial AT over-constrains student; temporal-only AT is the best variant (65.03%). All AT variants underperform pure KD T=20.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49039"/>
            <a:ext cx="1133856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Sensitive to teacher quality and temperature calibration. Noisy soft-targets from a ~64% teacher cause progressive generational collapse (64% → 59.21%).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46320"/>
            <a:ext cx="1133856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Cross-Frame Distillation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16-frame Model B achieves 1.6× GPU speedup and crosses 100 ms CPU threshold (88.5 ms/clip). −3.17 pp accuracy vs. Model A — an excellent operating point for edge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ABB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Daniele Barbagallo   ·   1000015334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999BB"/>
                </a:solidFill>
                <a:latin typeface="Calibri"/>
              </a:rPr>
              <a:t>Deep Learning — Advanced Models and Methods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999BB"/>
                </a:solidFill>
                <a:latin typeface="Calibri"/>
              </a:rPr>
              <a:t>Università di Catania — DMI   |   A.A. 2025/2026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2234</Words>
  <Application>Microsoft Office PowerPoint</Application>
  <PresentationFormat>Personalizzato</PresentationFormat>
  <Paragraphs>291</Paragraphs>
  <Slides>23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DANIELE BARBAGALLO</cp:lastModifiedBy>
  <cp:revision>2</cp:revision>
  <dcterms:created xsi:type="dcterms:W3CDTF">2013-01-27T09:14:16Z</dcterms:created>
  <dcterms:modified xsi:type="dcterms:W3CDTF">2026-05-25T18:46:06Z</dcterms:modified>
  <cp:category/>
</cp:coreProperties>
</file>