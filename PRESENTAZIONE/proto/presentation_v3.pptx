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3" r:id="rId6"/>
    <p:sldId id="274" r:id="rId7"/>
    <p:sldId id="260" r:id="rId8"/>
    <p:sldId id="261" r:id="rId9"/>
    <p:sldId id="262" r:id="rId10"/>
    <p:sldId id="263" r:id="rId11"/>
    <p:sldId id="264" r:id="rId12"/>
    <p:sldId id="269" r:id="rId13"/>
    <p:sldId id="270" r:id="rId14"/>
    <p:sldId id="271" r:id="rId15"/>
    <p:sldId id="272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6583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DEEP LEARNING — ADVANCED MODELS AND METHODS</a:t>
            </a:r>
          </a:p>
          <a:p>
            <a:pPr>
              <a:lnSpc>
                <a:spcPct val="120000"/>
              </a:lnSpc>
              <a:spcAft>
                <a:spcPts val="1600"/>
              </a:spcAft>
              <a:defRPr sz="4000" b="1">
                <a:solidFill>
                  <a:srgbClr val="F0F0F8"/>
                </a:solidFill>
                <a:latin typeface="Segoe UI"/>
              </a:defRPr>
            </a:pPr>
            <a:r>
              <a:t>Knowledge Distillation</a:t>
            </a:r>
            <a:br/>
            <a:r>
              <a:t>for Mobile Action Recognition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500" b="0">
                <a:solidFill>
                  <a:srgbClr val="C3C3D2"/>
                </a:solidFill>
                <a:latin typeface="Segoe UI"/>
              </a:defRPr>
            </a:pPr>
            <a:r>
              <a:t>Compressing a 3D ResNet-50 teacher into a MobileNet3D student</a:t>
            </a:r>
            <a:br/>
            <a:r>
              <a:t>for efficient video action recognition on UCF-101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0" y="1005840"/>
            <a:ext cx="3291840" cy="475488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66760" y="123444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PROJECT INFO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AUTHOR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Daniele Barbagallo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STUDENT ID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1000015334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ADVISOR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Prof. Antonino Furnari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COURSE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Deep Learning (AMM)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UNIVERSITY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Università di Catania — DMI</a:t>
            </a:r>
          </a:p>
          <a:p>
            <a:pPr>
              <a:lnSpc>
                <a:spcPct val="120000"/>
              </a:lnSpc>
              <a:spcAft>
                <a:spcPts val="100"/>
              </a:spcAft>
              <a:defRPr sz="800" b="1">
                <a:solidFill>
                  <a:srgbClr val="8C8C9E"/>
                </a:solidFill>
                <a:latin typeface="Segoe UI"/>
              </a:defRPr>
            </a:pPr>
            <a:r>
              <a:t>YEAR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2025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Objective &amp; Capacity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PROBLEM STATEMENT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Goal: compress a large 3D ResNet-50 teacher (~128 MB, pretrained on Kinetics-400) into a MobileNet3D student (~9.5 MB) for on-device video action recognition.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student trained from scratch with standard cross-entropy reaches only 59.48% Test Top-1 — a 29.3 pp gap with the teacher (88.82%).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Knowledge Distillation transfers the teacher's soft probability distributions to the student, closing part of this gap without changing the student architecture or increasing its size.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554480"/>
            <a:ext cx="4846320" cy="411480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REFERENCE MODELS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2468880"/>
          <a:ext cx="4480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Top-5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Teacher (3D ResNet-50)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~128 MB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88.82 %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A087F5"/>
                          </a:solidFill>
                          <a:latin typeface="Segoe UI"/>
                        </a:defRPr>
                      </a:pPr>
                      <a:r>
                        <a:t>Student Baseline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~9.5 MB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59.48 %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82.77 %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411480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C8C9E"/>
                </a:solidFill>
                <a:latin typeface="Segoe UI"/>
              </a:defRPr>
            </a:pPr>
            <a:r>
              <a:t>The teacher is pretrained and fine-tuned; the student is trained from scratch. All experiments use the official UCF-101 test set for final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TRAINING CONFIGURATION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Optimizer: AdamW (weight decay 0.01)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Scheduler: cosine annealing (LR 5e-4 student, 7e-4 teacher)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Epochs: 60 (+ 10-epoch CE-only warmup for KD runs)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Batch size: 16 (student) / 12 (teacher)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Mixed precision (AMP), label smoothing 0.1, gradient clipping 1.0</a:t>
            </a:r>
          </a:p>
          <a:p>
            <a:pPr>
              <a:lnSpc>
                <a:spcPct val="120000"/>
              </a:lnSpc>
              <a:spcAft>
                <a:spcPts val="7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Augmentation: resize short-side 128 → crop 112×112, horizontal flip, color jitter 0.1, random erasing 0.05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GROUP-AWARE EVALUATION SPLIT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UCF-101 videos are organized into groups originating from the same source clip. A naïve random split leaks correlated frames between train and eval sets, inflating metrics.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The training set was split at the group level (regex on video IDs) to create a clean evaluation partition (20 %), preventing data leakage.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This reduced validation accuracy from fictitiously high values to a realistic 60-65 % range, ensuring reliable model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Logit-Based Knowledge Distillation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METHOD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distillation loss combines standard cross-entropy on hard labels with KL divergence on temperature-softened teacher logits.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A 10-epoch warmup phase (CE-only) stabilizes student weights before soft targets are introduced.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STANDARD CONFIGURATION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T = 8,  α = 0.7  →  Test Top-1: 64.31 %  (+4.83 pp vs baseline)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best overall result was obtained at higher temperatures (see next slide). The distilled student retains the same 9.5 MB size and inference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RESULTS COMPARISON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2468880"/>
          <a:ext cx="4663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rPr dirty="0"/>
                        <a:t>Model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Top-5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BL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Teacher (R50)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92.36 %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88.82 %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59.48 %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82.77 %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ref.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KD (T=8, α=0.7)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64.57 %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64.31 %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87.68 %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rPr dirty="0"/>
                        <a:t>+4.83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37960" y="47548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100" b="0">
                <a:solidFill>
                  <a:srgbClr val="8C8C9E"/>
                </a:solidFill>
                <a:latin typeface="Segoe UI"/>
              </a:defRPr>
            </a:pPr>
            <a:r>
              <a:t>Distillation closes roughly one-sixth of the teacher-student gap, with zero size or latency overhead.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96E54-4E4C-A98C-58F7-37078F9F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F0D0AC-4F81-A000-F1CC-E5A709109A73}"/>
              </a:ext>
            </a:extLst>
          </p:cNvPr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8E1D14-0CD9-4DB0-E264-DE802881560B}"/>
              </a:ext>
            </a:extLst>
          </p:cNvPr>
          <p:cNvSpPr txBox="1"/>
          <p:nvPr/>
        </p:nvSpPr>
        <p:spPr>
          <a:xfrm>
            <a:off x="731520" y="548640"/>
            <a:ext cx="3363100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rPr lang="en-US" dirty="0"/>
              <a:t>Top1 - test accuracy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841CDD-4561-3BA8-4955-1BC7E433833D}"/>
              </a:ext>
            </a:extLst>
          </p:cNvPr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73FCE527-A47A-F138-A501-68DAD1E44285}"/>
              </a:ext>
            </a:extLst>
          </p:cNvPr>
          <p:cNvSpPr/>
          <p:nvPr/>
        </p:nvSpPr>
        <p:spPr>
          <a:xfrm>
            <a:off x="440550" y="1582028"/>
            <a:ext cx="11316998" cy="3864691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4A17C617-0A57-F444-2582-90EBF7BC5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0" y="1701298"/>
            <a:ext cx="10870398" cy="36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0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4AD93-5EC7-F57D-3AA7-4B88464D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706F1F-F4BD-3000-13CC-8F0841EE9EDA}"/>
              </a:ext>
            </a:extLst>
          </p:cNvPr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DED03-484F-EA28-E9FC-134F870B9AFB}"/>
              </a:ext>
            </a:extLst>
          </p:cNvPr>
          <p:cNvSpPr txBox="1"/>
          <p:nvPr/>
        </p:nvSpPr>
        <p:spPr>
          <a:xfrm>
            <a:off x="731520" y="548640"/>
            <a:ext cx="339676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rPr lang="en-US" dirty="0"/>
              <a:t>Top5 – test accuracy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2B1CB8-6C66-0635-47F6-D4786ED4B2A2}"/>
              </a:ext>
            </a:extLst>
          </p:cNvPr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FD17944C-4E4A-424B-7332-136D6E58108D}"/>
              </a:ext>
            </a:extLst>
          </p:cNvPr>
          <p:cNvSpPr/>
          <p:nvPr/>
        </p:nvSpPr>
        <p:spPr>
          <a:xfrm>
            <a:off x="440550" y="1582028"/>
            <a:ext cx="11316998" cy="3864691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FD4975E0-A070-2661-8FB1-A0054F82B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8896" y="1701298"/>
            <a:ext cx="10864966" cy="36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09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KNOWLEDGE DISTILLATION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Temperature Ablation (α = 0.7)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TEMPERATURE SWEEP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377440"/>
          <a:ext cx="4937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Train Acc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BL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98.44 %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62.75 %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62.91 %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+3.43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95.87 %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63.12 %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62.07 %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+2.59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97.59 %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64.57 %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64.31 %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+4.83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98.28 %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64.85 %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64.47 %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+4.99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20  (best)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99.05 %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65.18 %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8D2BE"/>
                          </a:solidFill>
                          <a:latin typeface="Segoe UI"/>
                        </a:defRPr>
                      </a:pPr>
                      <a:r>
                        <a:t>65.85 %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+6.37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2057400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rPr dirty="0"/>
              <a:t>ANALYSIS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rPr dirty="0"/>
              <a:t>Performance improves monotonically with temperature. At T = 20 the student reaches 65.85 % Test Top-1, a +6.37 pp gain over the baseline.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Higher temperatures smooth the teacher's output distribution, exposing inter-class similarity structure that a lower-capacity student can approximate more effectively.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At T = 1 the </a:t>
            </a:r>
            <a:r>
              <a:rPr dirty="0" err="1"/>
              <a:t>softmax</a:t>
            </a:r>
            <a:r>
              <a:rPr dirty="0"/>
              <a:t> outputs are nearly one-hot, which provides minimal additional signal beyond the hard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ADVANCED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Attention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APPROACH &amp; DEBUGGING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Spatial and temporal attention maps (L2-normalized squared activations) are aligned between teacher and student at matched network stages.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5BE32"/>
                </a:solidFill>
                <a:latin typeface="Segoe UI"/>
              </a:defRPr>
            </a:pPr>
            <a:r>
              <a:t>An initial configuration targeted block 5 of the teacher, which corresponds to the classification head (2D tensor). This produced constant attention maps and silently nullified the AT loss.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After correcting the mapping to [2,3,4] → [2,4,6], the AT loss became active but still resulted in a performance regression.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CONFIGURATIONS TESTED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Symmetric: β_s = 0.05, β_t = 0.05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Temporal-Only: β_s = 0.0, β_t = 0.10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RESULTS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2377440"/>
          <a:ext cx="4663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Config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Val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KD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KD (T=8, no AT)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64.57 %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ref.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AT Symmetric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58.25 %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−6.32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AT Temporal-Only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59.04 %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−5.53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37960" y="402336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INTERPRETATION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The spatial capacity gap between standard 3D convolutions (teacher) and depthwise separable convolutions (student) makes it structurally difficult for the student to reproduce the teacher's attention patterns.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t>The additional AT loss acts as an over-constraint, degrading performance rather than helping convergence.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ADVANCED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Born-Again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rPr dirty="0"/>
              <a:t>SETUP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Iterative self-distillation with homogeneous architecture (MobileNet3D → MobileNet3D) across 3 generations.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Starting point (Gen 0): logit-distilled student (KD T = 8, 64.31 % Test Top-1).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Mode: </a:t>
            </a:r>
            <a:r>
              <a:rPr dirty="0" err="1"/>
              <a:t>distillation_at</a:t>
            </a:r>
            <a:r>
              <a:rPr dirty="0"/>
              <a:t> — logit KD combined with Attention Transfer using identical feature keys [2, 4, 6] on both sides (no interpolation needed).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Hyper-parameters: T = 2.5, α = 0.5, β_s = β_t = 0.05, 50 epochs, </a:t>
            </a:r>
            <a:r>
              <a:rPr dirty="0" err="1"/>
              <a:t>AdamW</a:t>
            </a:r>
            <a:r>
              <a:rPr dirty="0"/>
              <a:t>, cosine scheduler.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rPr dirty="0"/>
              <a:t>ANALYSIS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Despite the architectural homogeneity allowing exact feature alignment (a theoretical advantage over cross-architecture AT), a progressive collapse is observed: Gen 3 drops below the scratch baseline.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The non-oracle teacher (64 % accuracy) provides soft targets that already carry significant noise. Each successive generation inherits and amplifies these prediction errors, degrading the training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3037398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GENERATIONAL COLLAPSE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37960" y="2377440"/>
          <a:ext cx="4663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Gen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Teacher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Test Top-1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Δ vs Gen 0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ResNet-50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64.31 %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ref.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0 Student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60.98 %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−3.33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2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1 Student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60.43 %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−3.88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3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Gen 2 Student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59.21 %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F5BE32"/>
                          </a:solidFill>
                          <a:latin typeface="Segoe UI"/>
                        </a:defRPr>
                      </a:pPr>
                      <a:r>
                        <a:t>−5.10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Latent Space — t-SNE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669727"/>
            <a:ext cx="10579210" cy="18941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rPr dirty="0"/>
              <a:t>EMBEDDING ANALYSIS</a:t>
            </a:r>
          </a:p>
          <a:p>
            <a:pPr>
              <a:lnSpc>
                <a:spcPct val="120000"/>
              </a:lnSpc>
              <a:spcAft>
                <a:spcPts val="14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t-SNE projections of pre-classifier embeddings (10 random classes).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Teacher: compact, well-separated clusters.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Baseline: significant inter-class overlap.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rPr dirty="0"/>
              <a:t>Best student (KD T = 20): visibly tighter clustering and improved class separation compared to the baseline, confirming effective structural knowledge transfer.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72818" y="1556480"/>
            <a:ext cx="9846364" cy="2994991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tsne_temperature_t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64" y="1815888"/>
            <a:ext cx="9380056" cy="24761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Cross-Frame Distillation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MOTIVATION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Processing 24 frames per clip is computationally expensive for edge and mobile deployments.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A 16-frame student (Model B) reduces temporal computation by 33.3 % compared to the 24-frame model (Model A).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The benchmark measures whether this theoretical saving translates into real wall-clock speedup on GPU and CPU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2719346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BENCHMARK PROTOCOL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Dataset: official UCF-101 test split (3 783 clips)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Metric: pure forward-pass latency (I/O excluded)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GPU: NVIDIA L40S with CUDA synchronization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CPU: sub-sampled (50 batches BS=1, 20 batches BS=8) to avoid excessive runtime while preserving statistical accuracy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Server: DMI Cluster (gnode10)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1F00D-736C-5F1F-D7E3-91ED2B6B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F0533A92-DF91-0846-4687-C14203A55BE1}"/>
              </a:ext>
            </a:extLst>
          </p:cNvPr>
          <p:cNvSpPr/>
          <p:nvPr/>
        </p:nvSpPr>
        <p:spPr>
          <a:xfrm>
            <a:off x="596982" y="1798071"/>
            <a:ext cx="10998670" cy="4129377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21D490-7F20-5FCD-B559-9BD46487B80D}"/>
              </a:ext>
            </a:extLst>
          </p:cNvPr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74A32-DEDA-F228-0AD4-074E9DEAF117}"/>
              </a:ext>
            </a:extLst>
          </p:cNvPr>
          <p:cNvSpPr txBox="1"/>
          <p:nvPr/>
        </p:nvSpPr>
        <p:spPr>
          <a:xfrm>
            <a:off x="731520" y="548640"/>
            <a:ext cx="545822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rPr lang="it-IT" dirty="0"/>
              <a:t>GPU Benchmark — NVIDIA L40S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C4B71D-5713-71A1-66B0-726D9256A4FE}"/>
              </a:ext>
            </a:extLst>
          </p:cNvPr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95F607D8-0697-EF6B-915D-0E21A4A96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52" y="1983700"/>
            <a:ext cx="5114080" cy="375811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3C8CC46-7302-A3D7-0CB2-C2EE00E48A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1966103"/>
            <a:ext cx="5271848" cy="37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9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29CC3-ED8B-809A-37D7-0975A8A1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DEDCFFDA-76DB-D418-653E-D78D727CC8CC}"/>
              </a:ext>
            </a:extLst>
          </p:cNvPr>
          <p:cNvSpPr/>
          <p:nvPr/>
        </p:nvSpPr>
        <p:spPr>
          <a:xfrm>
            <a:off x="731520" y="1614319"/>
            <a:ext cx="5483078" cy="4306019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E79755-2067-6958-BADD-DCBA3206577E}"/>
              </a:ext>
            </a:extLst>
          </p:cNvPr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185E3-D45F-22A4-B0B4-56C1FC5D76D0}"/>
              </a:ext>
            </a:extLst>
          </p:cNvPr>
          <p:cNvSpPr txBox="1"/>
          <p:nvPr/>
        </p:nvSpPr>
        <p:spPr>
          <a:xfrm>
            <a:off x="731520" y="548640"/>
            <a:ext cx="5458225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rPr lang="it-IT" dirty="0"/>
              <a:t>GPU Benchmark — NVIDIA L40S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4A65E7-5D0E-1B6A-F186-E43A9DB74E0E}"/>
              </a:ext>
            </a:extLst>
          </p:cNvPr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2A87D76-77F4-801E-D471-2227F225E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16" y="1785748"/>
            <a:ext cx="5219286" cy="3995474"/>
          </a:xfrm>
          <a:prstGeom prst="rect">
            <a:avLst/>
          </a:prstGeom>
        </p:spPr>
      </p:pic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EA5D37A6-C1AF-7711-7033-A75DB7785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589931"/>
              </p:ext>
            </p:extLst>
          </p:nvPr>
        </p:nvGraphicFramePr>
        <p:xfrm>
          <a:off x="6443208" y="2050111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BS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 A (24f)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Saved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4.54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4.02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1.13×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11.5 %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1.03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0.62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1.65×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39.3 %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1.18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0.74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1.59×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37.2 %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1.37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0.82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1.66×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rPr dirty="0"/>
                        <a:t>39.7 %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6">
            <a:extLst>
              <a:ext uri="{FF2B5EF4-FFF2-40B4-BE49-F238E27FC236}">
                <a16:creationId xmlns:a16="http://schemas.microsoft.com/office/drawing/2014/main" id="{B14C2F5E-ADF3-2C68-C0AA-55D9C3EB8A42}"/>
              </a:ext>
            </a:extLst>
          </p:cNvPr>
          <p:cNvSpPr txBox="1"/>
          <p:nvPr/>
        </p:nvSpPr>
        <p:spPr>
          <a:xfrm>
            <a:off x="6443208" y="4244671"/>
            <a:ext cx="5120640" cy="7211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At batch sizes ≥ 8 the GPU is fully saturated and Model B achieves 37-40 % latency savings, exceeding the linear 33 % frame reduction.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At BS = 1, PCIe kernel-launch overhead dominates, limiting the gain to ~11 </a:t>
            </a:r>
          </a:p>
        </p:txBody>
      </p:sp>
    </p:spTree>
    <p:extLst>
      <p:ext uri="{BB962C8B-B14F-4D97-AF65-F5344CB8AC3E}">
        <p14:creationId xmlns:p14="http://schemas.microsoft.com/office/powerpoint/2010/main" val="3925079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07D85-DA07-98A3-47C5-D465A28B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065E6B09-BDFA-D785-055B-5BFE99E5F8D8}"/>
              </a:ext>
            </a:extLst>
          </p:cNvPr>
          <p:cNvSpPr/>
          <p:nvPr/>
        </p:nvSpPr>
        <p:spPr>
          <a:xfrm>
            <a:off x="596982" y="1798071"/>
            <a:ext cx="10998670" cy="4129377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CCF7A-8794-6B51-28EA-A626169BAD88}"/>
              </a:ext>
            </a:extLst>
          </p:cNvPr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37C5C-DDD0-9054-B4EB-8C3FB7CB204E}"/>
              </a:ext>
            </a:extLst>
          </p:cNvPr>
          <p:cNvSpPr txBox="1"/>
          <p:nvPr/>
        </p:nvSpPr>
        <p:spPr>
          <a:xfrm>
            <a:off x="731520" y="548640"/>
            <a:ext cx="542776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rPr lang="it-IT" dirty="0"/>
              <a:t>CPU Benchmark — NVIDIA L40S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BE9DDD-51B2-C84C-8275-58501D9CA38F}"/>
              </a:ext>
            </a:extLst>
          </p:cNvPr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A3667DC-DA5A-4502-4103-BAB1295C5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95722" y="1983700"/>
            <a:ext cx="4970939" cy="375811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E619253A-40FC-5B16-5B9F-430B1D617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75722" y="1966103"/>
            <a:ext cx="4912403" cy="37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36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4772D-3E88-E27F-728E-102CB16D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69BA47CA-4B68-EB68-EB00-73F9CF14075C}"/>
              </a:ext>
            </a:extLst>
          </p:cNvPr>
          <p:cNvSpPr/>
          <p:nvPr/>
        </p:nvSpPr>
        <p:spPr>
          <a:xfrm>
            <a:off x="731520" y="1614319"/>
            <a:ext cx="5483078" cy="4306019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280783-2034-4CF7-D9CA-3DE36DE9A881}"/>
              </a:ext>
            </a:extLst>
          </p:cNvPr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QUALITATIVE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54D4F-38DF-4320-AED5-7A99316EA912}"/>
              </a:ext>
            </a:extLst>
          </p:cNvPr>
          <p:cNvSpPr txBox="1"/>
          <p:nvPr/>
        </p:nvSpPr>
        <p:spPr>
          <a:xfrm>
            <a:off x="731520" y="548640"/>
            <a:ext cx="5376472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rPr lang="it-IT" dirty="0"/>
              <a:t>CPU Benchmark — NVIDIA L40S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64196-3913-83D8-9126-09F5827BB630}"/>
              </a:ext>
            </a:extLst>
          </p:cNvPr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8CAABC8-FEA4-A355-5BBE-E24824FB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65304" y="1769591"/>
            <a:ext cx="5215510" cy="3995474"/>
          </a:xfrm>
          <a:prstGeom prst="rect">
            <a:avLst/>
          </a:prstGeom>
        </p:spPr>
      </p:pic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611E2B16-1319-8FBB-4CA4-9602E5F5A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564494"/>
              </p:ext>
            </p:extLst>
          </p:nvPr>
        </p:nvGraphicFramePr>
        <p:xfrm>
          <a:off x="6476337" y="2103120"/>
          <a:ext cx="51206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BS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rPr dirty="0"/>
                        <a:t>Model A (24f)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Model B (16f)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0F0F8"/>
                          </a:solidFill>
                          <a:latin typeface="Segoe UI"/>
                        </a:defRPr>
                      </a:pPr>
                      <a:r>
                        <a:t>Saved</a:t>
                      </a:r>
                    </a:p>
                  </a:txBody>
                  <a:tcPr anchor="ctr">
                    <a:solidFill>
                      <a:srgbClr val="262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136.70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88.51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1.54×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35.3 %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113.51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C3C3D2"/>
                          </a:solidFill>
                          <a:latin typeface="Segoe UI"/>
                        </a:defRPr>
                      </a:pPr>
                      <a:r>
                        <a:t>71.13 ms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t>1.60×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CD296"/>
                          </a:solidFill>
                          <a:latin typeface="Segoe UI"/>
                        </a:defRPr>
                      </a:pPr>
                      <a:r>
                        <a:rPr dirty="0"/>
                        <a:t>37.3 %</a:t>
                      </a:r>
                    </a:p>
                  </a:txBody>
                  <a:tcPr anchor="ctr">
                    <a:solidFill>
                      <a:srgbClr val="1C1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6">
            <a:extLst>
              <a:ext uri="{FF2B5EF4-FFF2-40B4-BE49-F238E27FC236}">
                <a16:creationId xmlns:a16="http://schemas.microsoft.com/office/drawing/2014/main" id="{0D259446-E790-9FB1-F152-93150B6ED7A2}"/>
              </a:ext>
            </a:extLst>
          </p:cNvPr>
          <p:cNvSpPr txBox="1"/>
          <p:nvPr/>
        </p:nvSpPr>
        <p:spPr>
          <a:xfrm>
            <a:off x="6476337" y="3840480"/>
            <a:ext cx="512064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Without PCIe overhead, the speedup directly reflects the arithmetic FLOP reduction.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C3C3D2"/>
                </a:solidFill>
                <a:latin typeface="Segoe UI"/>
              </a:defRPr>
            </a:pPr>
            <a:r>
              <a:rPr dirty="0"/>
              <a:t>Single-clip latency drops from 137 </a:t>
            </a:r>
            <a:r>
              <a:rPr dirty="0" err="1"/>
              <a:t>ms</a:t>
            </a:r>
            <a:r>
              <a:rPr dirty="0"/>
              <a:t> to 89 </a:t>
            </a:r>
            <a:r>
              <a:rPr dirty="0" err="1"/>
              <a:t>ms</a:t>
            </a:r>
            <a:r>
              <a:rPr dirty="0"/>
              <a:t>, crossing below the 100 </a:t>
            </a:r>
            <a:r>
              <a:rPr dirty="0" err="1"/>
              <a:t>ms</a:t>
            </a:r>
            <a:r>
              <a:rPr dirty="0"/>
              <a:t> real-time threshold and making the 16-frame model suitable for edge deployment.</a:t>
            </a:r>
          </a:p>
        </p:txBody>
      </p:sp>
    </p:spTree>
    <p:extLst>
      <p:ext uri="{BB962C8B-B14F-4D97-AF65-F5344CB8AC3E}">
        <p14:creationId xmlns:p14="http://schemas.microsoft.com/office/powerpoint/2010/main" val="1295240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8D2BE"/>
                </a:solidFill>
                <a:latin typeface="Segoe U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F0F0F8"/>
                </a:solidFill>
                <a:latin typeface="Segoe UI"/>
              </a:defRPr>
            </a:pPr>
            <a: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463040" cy="31750"/>
          </a:xfrm>
          <a:prstGeom prst="rect">
            <a:avLst/>
          </a:prstGeom>
          <a:solidFill>
            <a:srgbClr val="38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SPEED-ACCURACY TRADE-OFF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Model A (24 f, KD T = 20):  65.85 % Test Top-1  (+6.37 pp vs baseline)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Model B (16 f, cross-frame):  62.68 % Test Top-1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Saving 37-40 % latency costs only 3.17 pp in accuracy compared to Model A.  Model B still exceeds the scratch baseline by +3.20 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206240"/>
          </a:xfrm>
          <a:prstGeom prst="roundRect">
            <a:avLst>
              <a:gd name="adj" fmla="val 4000"/>
            </a:avLst>
          </a:prstGeom>
          <a:solidFill>
            <a:srgbClr val="1C1C28"/>
          </a:solidFill>
          <a:ln w="12700">
            <a:solidFill>
              <a:srgbClr val="32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100" b="1">
                <a:solidFill>
                  <a:srgbClr val="38D2BE"/>
                </a:solidFill>
                <a:latin typeface="Segoe UI"/>
              </a:defRPr>
            </a:pPr>
            <a:r>
              <a:t>KEY FINDINGS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Logit-based KD is effective and zero-overhead; higher temperatures better bridge large capacity gaps.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Attention Transfer is limited by the architectural mismatch between standard and depthwise convolutions.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300" b="0">
                <a:solidFill>
                  <a:srgbClr val="C3C3D2"/>
                </a:solidFill>
                <a:latin typeface="Segoe UI"/>
              </a:defRPr>
            </a:pPr>
            <a:r>
              <a:t>•  Born-Again self-distillation is sensitive to temperature calibration and prone to generational collapse without an oracle teacher.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300" b="1">
                <a:solidFill>
                  <a:srgbClr val="F0F0F8"/>
                </a:solidFill>
                <a:latin typeface="Segoe UI"/>
              </a:defRPr>
            </a:pPr>
            <a:r>
              <a:t>•  Cross-frame distillation offers an effective latency-accuracy trade-off for real-time edge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1575</Words>
  <Application>Microsoft Office PowerPoint</Application>
  <PresentationFormat>Widescreen</PresentationFormat>
  <Paragraphs>258</Paragraphs>
  <Slides>16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DANIELE BARBAGALLO</cp:lastModifiedBy>
  <cp:revision>3</cp:revision>
  <dcterms:created xsi:type="dcterms:W3CDTF">2013-01-27T09:14:16Z</dcterms:created>
  <dcterms:modified xsi:type="dcterms:W3CDTF">2026-05-24T17:23:44Z</dcterms:modified>
  <cp:category/>
</cp:coreProperties>
</file>