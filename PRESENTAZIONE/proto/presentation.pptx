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DEEP LEARNING: ADVANCED MODELS AND METHODS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3800" b="1">
                <a:solidFill>
                  <a:srgbClr val="F5F5FA"/>
                </a:solidFill>
                <a:latin typeface="Segoe UI"/>
              </a:defRPr>
            </a:pPr>
            <a:r>
              <a:t>Knowledge Distillation for</a:t>
            </a:r>
            <a:br/>
            <a:r>
              <a:t>Mobile Action Recognition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C8C8D7"/>
                </a:solidFill>
                <a:latin typeface="Segoe UI"/>
              </a:defRPr>
            </a:pPr>
            <a:r>
              <a:t>Compressing 3D ResNet-50 into MobileNet3D: Optimization, Attention Transfer, and Cross-Frame Distillation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097280"/>
            <a:ext cx="3383280" cy="466344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PROJECT DETAILS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AUTHOR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Daniele Barbagallo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STUDENT ID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1000015334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ADVISOR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Prof. Antonino Furnari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COURSE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Deep Learning (AMM)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INSTITUTION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University of Catania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DEPARTMENT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DMI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ACADEMIC YEAR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Project Objectives &amp; The Capacity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THE COMPRESSION CHALLENGE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Mobile Action Recognition: Video processing is computationally heavy, demanding compact and fast models for mobile or edge deployment.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Target: Compress a heavy 3D ResNet-50 Teacher (~128 MB, Kinetics-400 pretrained) into an ultra-lightweight MobileNet3D Student (~9.5 MB) trained from scratch.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The Capacity Gap: MobileNet3D trained from scratch from raw labels reaches a performance ceiling of 59.48% Test Top-1, creating a massive 29.34% gap with the Teacher (88.82%).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The Solution: Employ Knowledge Distillation (KD) to transfer the Teacher's dark knowledge and structural representations to close this performance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45920"/>
            <a:ext cx="46634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920240"/>
            <a:ext cx="4297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ARCHITECTURAL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2468880"/>
          <a:ext cx="4297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</a:tblGrid>
              <a:tr h="6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Teacher (3D R50)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128.0 MB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88.82%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A78BFA"/>
                          </a:solidFill>
                          <a:latin typeface="Segoe UI"/>
                        </a:defRPr>
                      </a:pPr>
                      <a:r>
                        <a:t>Student Baseline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9.5 MB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59.48%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82.77%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47548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696A5"/>
                </a:solidFill>
                <a:latin typeface="Segoe UI"/>
              </a:defRPr>
            </a:pPr>
            <a:r>
              <a:t>The Teacher is ~13.5x larger than the Student baseline, presenting a clear compression opportunity via logit and attention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Experimental Setup &amp; Group-Aware Dataset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TRAINING HYPERPARAMETERS &amp; CONFIG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Optimizer: AdamW with weight decay of 0.01.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LR Scheduler: Cosine annealing with base learning rate of 0.0005 for students, 0.0007 for teacher.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Training Budget: 60 epochs (with 10-epoch warmup for KD/AT where only Cross-Entropy loss is active).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Regularization: AMP (Automatic Mixed Precision) enabled, Label Smoothing of 0.1.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Data Augmentation (Light): Short-side resize to 128, crop to 112x112, random horizontal flip, color jitter (0.1), random erasing (0.05), max temporal stride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GROUP-AWARE SPLIT DESIGN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Motivation: UCF-101 contains clips extracted from the same original source videos. Standard random splitting results in data leakage, creating overly optimistic, fake validation metrics.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1">
                <a:solidFill>
                  <a:srgbClr val="F5F5FA"/>
                </a:solidFill>
                <a:latin typeface="Segoe UI"/>
              </a:defRPr>
            </a:pPr>
            <a:r>
              <a:t>• Smart Division: The training set was split in a wise, group-aware manner based on source video IDs (extracted via regex, e.g. '_gXX_') to obtain an internal evaluation set which was otherwise absent.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Impact: Evaluation set metrics dropped from fittitiouly high values to a realistic 60-65% validation range, exposing the true generalization gap and ensuring reliable hyperparameter 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Logit-Based Knowledge Distillation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LOGIT ALIGNMENT METHODOLOGY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Loss Formulation: Combines standard Cross-Entropy (hard labels) with KL Divergence on soft targets scaled by temperature 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Hyperparameters: Best standard baseline configuration uses temperature T = 8.0, alpha = 0.7, batch size 16.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Warmup Effect: An initial 10-epoch classification warmup using pure ground truth is crucial to stabilize Student weights before introducing teacher soft targets.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Parameter Overhead: +0% extra parameters. The distilled student maintains the exact 9.5 MB size and low latency of the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QUANTITATIVE PERFORMANCE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4688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/>
                <a:gridCol w="950976"/>
                <a:gridCol w="950976"/>
                <a:gridCol w="950976"/>
                <a:gridCol w="950976"/>
              </a:tblGrid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Top-5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Teacher (3D R50)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92.36%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88.82%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Upper Bound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Student Baseline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59.48%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82.77%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KD Student (T=8)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64.57%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87.68%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+4.83%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696A5"/>
                </a:solidFill>
                <a:latin typeface="Segoe UI"/>
              </a:defRPr>
            </a:pPr>
            <a:r>
              <a:t>Knowledge Distillation yields a significant +4.83% absolute improvement in Test Top-1 and +4.91% in Top-5, without modifying the Student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Temperature Scaling Ablation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TEMPERATURE ABLATION SWEEP (ALPHA = 0.7)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6888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Temp (T)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Train Acc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 vs BL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98.44%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62.75%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62.91%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+3.43%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5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95.87%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63.12%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62.07%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+2.59%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97.59%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64.57%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+4.83%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10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98.28%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64.85%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64.47%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+4.99%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20 (Best)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99.05%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65.18%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65.85%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+6.37%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6459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KEY TEMPERATURE TRENDS &amp; FINDINGS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1">
                <a:solidFill>
                  <a:srgbClr val="F5F5FA"/>
                </a:solidFill>
                <a:latin typeface="Segoe UI"/>
              </a:defRPr>
            </a:pPr>
            <a:r>
              <a:t>• Monotonic Increase: Accuracy shows a clear upward trend with temperature, peaking at T = 20 with a massive +6.37% gain over baseline.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Softening Probability Distributions: With T=1, the teacher's soft targets are too peaked, behaving like standard hard labels. This makes it difficult for the student to capture relationships between classes.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Bridging the Capacity Gap: Setting T=20 smooths out the distributions, revealing the 'dark knowledge' (inter-class similarity structures) that a lower-capacity student is capable of mimicking.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ADVANCED KD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Attention Transfer: Debugging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THE 'KEY 5' BUG &amp; FEATURE PAIRING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Concept: Align intermediate spatial and temporal attention maps (L2-normalized activations) from matching network stages.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• The Bug: Early attempts targeted block 5 of the Teacher (ResNet-50 classification head, 2D). This generated constant 1.0 attention maps, silently nullifying the loss.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Correction: Mapped stages with comparable spatial dimensions: `[2,3,4]` of ResNet to `[2,4,6]` of MobileNet.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Configs: Symmetric (spatial beta=0.05, temporal beta=0.05) and Temporal-Only (spatial beta=0.0, temporal beta=0.10).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PERFORMANCE REGRESSION &amp;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37744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 vs KD (T=8)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KD (T=8, no AT)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64.57%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AT Symmetric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58.25%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-6.32%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AT Temporal-Only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59.04%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-5.53%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Why did Attention Transfer fail?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1. Capacity Gap: Standard 3D convolutions (Teacher) produce rich, high-dimensional spatial maps. MobileNet3D's depthwise separable convolutions are too limited to mimic them, causing learning collapse.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2. Over-Regularization: Forcing intermediate layers to strictly align acts as an excessive constraint, preventing the Student from finding alternative solutions.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ADVANCED KD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Born-Again Networks: Generational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ITERATIVE SELF-DISTILLATION SETUP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Method: Train a student model from a teacher. In the next generation, this student becomes the new teacher, distilling its knowledge to a structurally identical student.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Homogeneous Architecture: MobileNet3D (Teacher) to MobileNet3D (Student). Spatial features match perfectly without interpolation.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Initial Target (Gen 0): The best-performing logit-distilled student (KD T=8, 64.31% Test Top-1) serves as the starting point.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Configuration: Temperature T = 8.0, alpha = 0.7, optimizer AdamW, cosine scheduler, light augmentation.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THE COLLAPSE PHENOMENON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28600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Generation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 vs Gen 0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0 Student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60.98%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-3.33%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2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1 Student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60.43%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-3.88%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3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2 Student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59.21%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-5.10%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Why did the generations collapse?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1. Uncalibrated Temperature: T=8.0 was tuned for the high-confidence ResNet-50. When applied to the less confident MobileNet3D (64%), it flattened probabilities into near-white noise.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2. Error Propagation: Without an oracle (ground truth teacher), systematic mistakes and artifacts accumulate and propagate across generations, leading to overfitting on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Latent Space Analysis via t-SNE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VISUALIZING LEARNED EMBEDDINGS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Method: Apply t-SNE dimensionality reduction to pre-classifier embeddings across 10 randomly selected classes.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Teacher (ResNet-50): Left panel shows highly compact, well-separated, and distinct semantic clusters.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Student Baseline: Middle panel displays fuzzy cluster boundaries, significant class overlap, and mixed clusters.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Distilled Student (KD T=8): Right panel shows dramatically improved cluster definitions and separation, validating the success of structural knowledge transfer.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64592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sne_comparison_4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39496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Cross-Frame Distillation for Edge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EFFICIENCY VS ACCURACY GOALS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Deployment Challenge: Processing 24 frames per video clip is computationally expensive, especially on resource-constrained CPUs and older edge GPUs.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Cross-Frame Distillation: Train a Model B using only 16 frames per clip, representing a 33.3% theoretical reduction in temporal FLOPs compared to the 24-frame Model 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Core Inquiry: Verify if this 33.3% computational savings translates into actual wall-clock execution speedups on hardware (GPU and CPU).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BENCHMARK METRICS &amp; METHODOLOGY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Dataset: Official UCF-101 test set, containing 3,783 real video clips.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Measurement: Focuses solely on forward inference time (model(clips)) to isolate network speed from disk I/O.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GPU Sync: Uses PyTorch CUDA synchronization to ensure asynchronous kernels are fully completed before measuring times.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CPU Sampling: CPU benchmarks are sub-sampled (50 batches for BS=1, 20 batches for BS=8) to avoid excessively long test runs while retaining statistical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GPU Inference Benchmark: NVIDIA L40S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GPU BENCHMARK (MS PER CLIP)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Saved Time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4.54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4.02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1.13x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11.49%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1.03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0.62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1.65x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39.32%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16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1.18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0.74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1.59x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37.15%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32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1.37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0.82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1.66x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39.69%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Key GPU Findings: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GPU Saturation: At BS &gt;= 8, GPU is fully saturated, yielding a massive 37%-40% speedup. This exceeds the linear 33.3% frame reduction due to better alignment of 16-frame blocks on Tensor Cores.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PCIe Overhead: At BS = 1, PCIe bus overhead dominates, limiting speedup to 1.13x.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CPU Inference Benchmark: Host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CPU BENCHMARK (MS PER CLIP)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Saved Time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136.70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88.51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1.54x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35.26%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113.51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71.13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1.60x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37.33%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Key CPU Findings: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FLOPs-Dominated Speedup: Without the PCIe bus bottleneck, CPU speedup closely reflects the theoretical temporal FLOP reduction.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Edge Suitability: Reducing single-clip latency (BS=1) from 136.7 ms to 88.5 ms (below the 100 ms threshold) makes the 16f model highly suitable for real-time edge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Conclusions &amp; Speed-Accuracy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THE SPEED-ACCURACY TRADE-OFF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Model A (24f, Best KD T=20): Achieves 65.85% Test Top-1 (a substantial +6.37% gain over the baseline scratch student).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Model B (16f, Cross-Frame KD): Reaches 62.68% Test Top-1.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Trade-off Evaluation: Saving 37%-40% in latency/FLOPs costs only 3.17% in Test Top-1 compared to Model 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Net Improvement: Model B (16f) still outperforms the original Model A baseline from scratch (59.48%) by a solid +3.20% while executing significantly faster.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KEY SUMMARY TAKEAWAYS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50" b="0">
                <a:solidFill>
                  <a:srgbClr val="C8C8D7"/>
                </a:solidFill>
                <a:latin typeface="Segoe UI"/>
              </a:defRPr>
            </a:pPr>
            <a:r>
              <a:t>• Logit-Based KD is a powerful and zero-overhead method. Higher temperatures (T=20) are critical to soften representations and bridge large capacity gaps.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50" b="0">
                <a:solidFill>
                  <a:srgbClr val="C8C8D7"/>
                </a:solidFill>
                <a:latin typeface="Segoe UI"/>
              </a:defRPr>
            </a:pPr>
            <a:r>
              <a:t>• Attention Transfer is limited by architectural heterogeneity (standard vs depthwise convolutions) and risk of over-regularization.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50" b="0">
                <a:solidFill>
                  <a:srgbClr val="C8C8D7"/>
                </a:solidFill>
                <a:latin typeface="Segoe UI"/>
              </a:defRPr>
            </a:pPr>
            <a:r>
              <a:t>• Self-Distillation (BAN) is highly sensitive to temperature and prone to generational collapse when the teacher is not an oracle.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F5F5FA"/>
                </a:solidFill>
                <a:latin typeface="Segoe UI"/>
              </a:defRPr>
            </a:pPr>
            <a:r>
              <a:t>• Cross-Frame Distillation provides an outstanding Pareto-optimal trade-off for practical mobile/edge real-time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