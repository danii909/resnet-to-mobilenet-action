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81" r:id="rId4"/>
    <p:sldId id="259" r:id="rId5"/>
    <p:sldId id="260" r:id="rId6"/>
    <p:sldId id="262" r:id="rId7"/>
    <p:sldId id="263" r:id="rId8"/>
    <p:sldId id="280" r:id="rId9"/>
    <p:sldId id="267" r:id="rId10"/>
    <p:sldId id="261" r:id="rId11"/>
    <p:sldId id="265" r:id="rId12"/>
    <p:sldId id="264" r:id="rId13"/>
    <p:sldId id="278" r:id="rId14"/>
    <p:sldId id="279" r:id="rId15"/>
    <p:sldId id="268" r:id="rId16"/>
    <p:sldId id="282" r:id="rId17"/>
    <p:sldId id="283" r:id="rId18"/>
    <p:sldId id="269" r:id="rId19"/>
    <p:sldId id="270" r:id="rId20"/>
    <p:sldId id="271" r:id="rId21"/>
    <p:sldId id="272" r:id="rId22"/>
    <p:sldId id="274" r:id="rId23"/>
    <p:sldId id="284" r:id="rId24"/>
    <p:sldId id="276" r:id="rId25"/>
    <p:sldId id="277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2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Clips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Eval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7630</c:v>
                </c:pt>
                <c:pt idx="1">
                  <c:v>1907</c:v>
                </c:pt>
                <c:pt idx="2">
                  <c:v>3783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B-4B7E-B4E1-7D2E59A98D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AABBFF"/>
                </a:solidFill>
                <a:latin typeface="Calibri"/>
              </a:rPr>
              <a:t>for Mobile Action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Compressing a 3D ResNet-50 teacher into a MobileNet3D student
for efficient video action recognition on UCF-101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2743200" cy="36576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99FF"/>
                </a:solidFill>
                <a:latin typeface="Calibri"/>
              </a:rPr>
              <a:t>DEEP LEARNING — ADVANCED MODELS AND METHODS</a:t>
            </a:r>
          </a:p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Daniele Barbagallo   |   Student ID 1000015334</a:t>
            </a:r>
          </a:p>
          <a:p>
            <a:pPr algn="l"/>
            <a:r>
              <a:rPr sz="1000" b="0">
                <a:solidFill>
                  <a:srgbClr val="9999BB"/>
                </a:solidFill>
                <a:latin typeface="Calibri"/>
              </a:rPr>
              <a:t>Università di Catania — DMI   |   A.A. 2025/2026</a:t>
            </a:r>
          </a:p>
          <a:p>
            <a:pPr algn="l"/>
            <a:r>
              <a:rPr sz="1000" b="0">
                <a:solidFill>
                  <a:srgbClr val="9999BB"/>
                </a:solidFill>
                <a:latin typeface="Calibri"/>
              </a:rPr>
              <a:t>Advisor: Prof. Antonino Furnari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F3D91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F3D91"/>
                </a:solidFill>
                <a:latin typeface="Calibri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Compress a 3D ResNet-50 teacher (~128 MB,</a:t>
            </a:r>
          </a:p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pretrained on Kinetics-400) into a MobileNet3D</a:t>
            </a:r>
          </a:p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student (~9.5 MB) for on-device video action</a:t>
            </a:r>
          </a:p>
          <a:p>
            <a:pPr algn="l">
              <a:lnSpc>
                <a:spcPts val="1500"/>
              </a:lnSpc>
            </a:pPr>
            <a:r>
              <a:rPr sz="1150" b="0">
                <a:solidFill>
                  <a:srgbClr val="1A1A2E"/>
                </a:solidFill>
                <a:latin typeface="Calibri"/>
              </a:rPr>
              <a:t>recognition on UCF-101 (101 classes).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Capacity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546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Teacher (ResNet-50, Kinetics pretrained): 88.82% Top-1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Student (MobileNet3D, from scratch):      59.48% Top-1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Gap: −29.3 pp  |  Size ratio: ~13.5×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A1A2E"/>
                </a:solidFill>
                <a:latin typeface="Calibri"/>
              </a:rPr>
              <a:t>• Objective: close the gap via KD at zero size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11349"/>
            <a:ext cx="178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F3D91"/>
                </a:solidFill>
                <a:latin typeface="Calibri"/>
              </a:rPr>
              <a:t>Reference Numbers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522829"/>
            <a:ext cx="1828800" cy="9601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568549"/>
            <a:ext cx="1737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88.82%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079698"/>
            <a:ext cx="17373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Teacher Top-1 (ResNet-50)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522829"/>
            <a:ext cx="1828800" cy="9601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568549"/>
            <a:ext cx="1737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59.48%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79698"/>
            <a:ext cx="17373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Baseline Student Top-1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74389"/>
            <a:ext cx="1828800" cy="9601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620109"/>
            <a:ext cx="1737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E54800"/>
                </a:solidFill>
                <a:latin typeface="Calibri"/>
              </a:rPr>
              <a:t>−29.3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31258"/>
            <a:ext cx="17373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Capacity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3574389"/>
            <a:ext cx="1828800" cy="9601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620109"/>
            <a:ext cx="1737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13.5×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31258"/>
            <a:ext cx="17373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Size Ratio (Teacher/Student)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A1A2E"/>
                </a:solidFill>
                <a:latin typeface="Calibri"/>
              </a:rPr>
              <a:t>Dataset, Group-Aware Split &amp; Training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B5B36FFC-DF48-685F-25C5-6DD8E2ABF92E}"/>
              </a:ext>
            </a:extLst>
          </p:cNvPr>
          <p:cNvGrpSpPr/>
          <p:nvPr/>
        </p:nvGrpSpPr>
        <p:grpSpPr>
          <a:xfrm>
            <a:off x="411480" y="1567410"/>
            <a:ext cx="2468752" cy="2573894"/>
            <a:chOff x="411480" y="1554480"/>
            <a:chExt cx="2468752" cy="1656635"/>
          </a:xfrm>
        </p:grpSpPr>
        <p:sp>
          <p:nvSpPr>
            <p:cNvPr id="6" name="Rectangle 5"/>
            <p:cNvSpPr/>
            <p:nvPr/>
          </p:nvSpPr>
          <p:spPr>
            <a:xfrm>
              <a:off x="411480" y="1554480"/>
              <a:ext cx="2468752" cy="1656635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1645920"/>
              <a:ext cx="212829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0F3D91"/>
                  </a:solidFill>
                  <a:latin typeface="Calibri"/>
                </a:rPr>
                <a:t>UCF-101 Dataset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2011679"/>
              <a:ext cx="219456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dirty="0">
                  <a:solidFill>
                    <a:srgbClr val="1A1A2E"/>
                  </a:solidFill>
                  <a:latin typeface="Calibri"/>
                </a:rPr>
                <a:t>• 101 action classes</a:t>
              </a:r>
              <a:endParaRPr lang="it-IT" sz="1400" b="0" dirty="0">
                <a:solidFill>
                  <a:srgbClr val="1A1A2E"/>
                </a:solidFill>
                <a:latin typeface="Calibri"/>
              </a:endParaRPr>
            </a:p>
            <a:p>
              <a:pPr algn="l"/>
              <a:r>
                <a:rPr lang="it-IT" sz="1400" b="0" dirty="0">
                  <a:solidFill>
                    <a:srgbClr val="1A1A2E"/>
                  </a:solidFill>
                  <a:latin typeface="Calibri"/>
                </a:rPr>
                <a:t>• 13,320 video clips </a:t>
              </a:r>
            </a:p>
            <a:p>
              <a:pPr algn="l"/>
              <a:r>
                <a:rPr lang="en-US" sz="1400" b="0" dirty="0">
                  <a:solidFill>
                    <a:srgbClr val="1A1A2E"/>
                  </a:solidFill>
                  <a:latin typeface="Calibri"/>
                </a:rPr>
                <a:t>• 24 frames/clip (112×112)</a:t>
              </a:r>
            </a:p>
            <a:p>
              <a:pPr algn="l"/>
              <a:r>
                <a:rPr lang="it-IT" sz="1400" b="0" dirty="0">
                  <a:solidFill>
                    <a:srgbClr val="1A1A2E"/>
                  </a:solidFill>
                  <a:latin typeface="Calibri"/>
                </a:rPr>
                <a:t>• Test split: 3,783 clips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3/22</a:t>
            </a: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A5EF148A-37DD-8795-FBA6-62FFADCEE299}"/>
              </a:ext>
            </a:extLst>
          </p:cNvPr>
          <p:cNvSpPr/>
          <p:nvPr/>
        </p:nvSpPr>
        <p:spPr>
          <a:xfrm>
            <a:off x="3154140" y="1572768"/>
            <a:ext cx="8769096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11">
            <a:extLst>
              <a:ext uri="{FF2B5EF4-FFF2-40B4-BE49-F238E27FC236}">
                <a16:creationId xmlns:a16="http://schemas.microsoft.com/office/drawing/2014/main" id="{FF54058D-3B29-6B36-6F92-6784173F76F4}"/>
              </a:ext>
            </a:extLst>
          </p:cNvPr>
          <p:cNvSpPr/>
          <p:nvPr/>
        </p:nvSpPr>
        <p:spPr>
          <a:xfrm>
            <a:off x="3154140" y="1572768"/>
            <a:ext cx="8769096" cy="54864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CBE6F667-BDE5-093D-3981-83E029209F69}"/>
              </a:ext>
            </a:extLst>
          </p:cNvPr>
          <p:cNvSpPr txBox="1"/>
          <p:nvPr/>
        </p:nvSpPr>
        <p:spPr>
          <a:xfrm>
            <a:off x="3337020" y="166420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Group-Aware Eval Split</a:t>
            </a:r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ACCE7A74-6EE7-2BA2-49FC-559AC5A3E521}"/>
              </a:ext>
            </a:extLst>
          </p:cNvPr>
          <p:cNvSpPr txBox="1"/>
          <p:nvPr/>
        </p:nvSpPr>
        <p:spPr>
          <a:xfrm>
            <a:off x="3337020" y="230428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F3D91"/>
                </a:solidFill>
                <a:latin typeface="Calibri"/>
              </a:rPr>
              <a:t>Motivation</a:t>
            </a: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B5F8604B-43A4-6E1C-89BF-BF744F9F2070}"/>
              </a:ext>
            </a:extLst>
          </p:cNvPr>
          <p:cNvSpPr txBox="1"/>
          <p:nvPr/>
        </p:nvSpPr>
        <p:spPr>
          <a:xfrm>
            <a:off x="3519900" y="2670048"/>
            <a:ext cx="4627792" cy="1312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UCF-101 contains clips extracted from the same original source videos.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Standard random splitting results in data leakage, creating overly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optimistic, fake validation metrics.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The training set was split in a wise, group-aware manner based on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source video IDs (extracted via regex, e.g. '_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gXX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_') to obtain an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internal evaluation set which was otherwise absent.</a:t>
            </a:r>
          </a:p>
        </p:txBody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42AF4A3C-95D5-1FC6-88AE-0B9959509700}"/>
              </a:ext>
            </a:extLst>
          </p:cNvPr>
          <p:cNvSpPr txBox="1"/>
          <p:nvPr/>
        </p:nvSpPr>
        <p:spPr>
          <a:xfrm>
            <a:off x="3337020" y="4407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Impact</a:t>
            </a:r>
          </a:p>
        </p:txBody>
      </p:sp>
      <p:sp>
        <p:nvSpPr>
          <p:cNvPr id="47" name="TextBox 16">
            <a:extLst>
              <a:ext uri="{FF2B5EF4-FFF2-40B4-BE49-F238E27FC236}">
                <a16:creationId xmlns:a16="http://schemas.microsoft.com/office/drawing/2014/main" id="{5DD71FDF-C25E-06E0-62F1-80E0583DD3DE}"/>
              </a:ext>
            </a:extLst>
          </p:cNvPr>
          <p:cNvSpPr txBox="1"/>
          <p:nvPr/>
        </p:nvSpPr>
        <p:spPr>
          <a:xfrm>
            <a:off x="3519900" y="4773168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Evaluation set metrics dropped from fictitiously high values to a realistic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60-65% validation range, exposing the true generalization gap and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ensuring reliable hyperparameter tuning.</a:t>
            </a:r>
          </a:p>
        </p:txBody>
      </p:sp>
      <p:graphicFrame>
        <p:nvGraphicFramePr>
          <p:cNvPr id="48" name="Chart 17">
            <a:extLst>
              <a:ext uri="{FF2B5EF4-FFF2-40B4-BE49-F238E27FC236}">
                <a16:creationId xmlns:a16="http://schemas.microsoft.com/office/drawing/2014/main" id="{4942AC7C-B1FE-0676-1D81-86A663F9F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07453"/>
              </p:ext>
            </p:extLst>
          </p:nvPr>
        </p:nvGraphicFramePr>
        <p:xfrm>
          <a:off x="8100918" y="2395728"/>
          <a:ext cx="3593718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Training Configuration &amp; Light Augmentation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5303520" cy="4572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91"/>
                </a:solidFill>
                <a:latin typeface="Calibri"/>
              </a:rPr>
              <a:t>Model Training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Student (MobileNet3D):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Optimizer: AdamW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Learning Rate: 5e-4 (Cosine Schedule)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Epochs: 60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Batch Size: 16 (with AMP)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Label Smoothing: 0.1</a:t>
            </a:r>
          </a:p>
          <a:p>
            <a:pPr algn="l">
              <a:lnSpc>
                <a:spcPts val="2000"/>
              </a:lnSpc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2000"/>
              </a:lnSpc>
            </a:pPr>
            <a:r>
              <a:rPr sz="1400" b="1">
                <a:solidFill>
                  <a:srgbClr val="1A1A2E"/>
                </a:solidFill>
                <a:latin typeface="Calibri"/>
              </a:rPr>
              <a:t>Teacher (ResNet-50):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Optimizer: SGD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Learning Rate: 7e-4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1A2E"/>
                </a:solidFill>
                <a:latin typeface="Calibri"/>
              </a:rPr>
              <a:t>• Epochs: 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5760720" cy="457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4800"/>
                </a:solidFill>
                <a:latin typeface="Calibri"/>
              </a:rPr>
              <a:t>Light Augmentation (lightaug)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To combat overfitting caused by the small dataset size (13k clips) and the fact that the MobileNet3D student is trained from scratch:</a:t>
            </a:r>
          </a:p>
          <a:p>
            <a:pPr algn="l">
              <a:lnSpc>
                <a:spcPts val="2200"/>
              </a:lnSpc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A 'light augmentation' pipeline was introduced: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Random Horizontal Flip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Random Crop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• Color Jitter (Brightness/Contrast/Saturation)</a:t>
            </a:r>
          </a:p>
          <a:p>
            <a:pPr algn="l">
              <a:lnSpc>
                <a:spcPts val="2200"/>
              </a:lnSpc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1A1A2E"/>
                </a:solidFill>
                <a:latin typeface="Calibri"/>
              </a:rPr>
              <a:t>This pipeline significantly helped the student generalize better to the unseen validation and test 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Method — Logit-Based KD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Temperature-scaled soft targets from teacher logits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0" name="Gruppo 79">
            <a:extLst>
              <a:ext uri="{FF2B5EF4-FFF2-40B4-BE49-F238E27FC236}">
                <a16:creationId xmlns:a16="http://schemas.microsoft.com/office/drawing/2014/main" id="{35AD6A4C-C177-8804-5CD9-CC01676AC47A}"/>
              </a:ext>
            </a:extLst>
          </p:cNvPr>
          <p:cNvGrpSpPr/>
          <p:nvPr/>
        </p:nvGrpSpPr>
        <p:grpSpPr>
          <a:xfrm>
            <a:off x="2389145" y="1910969"/>
            <a:ext cx="7322711" cy="4266235"/>
            <a:chOff x="2936018" y="1920240"/>
            <a:chExt cx="5532121" cy="3238883"/>
          </a:xfrm>
        </p:grpSpPr>
        <p:sp>
          <p:nvSpPr>
            <p:cNvPr id="14" name="Rectangle 13"/>
            <p:cNvSpPr/>
            <p:nvPr/>
          </p:nvSpPr>
          <p:spPr>
            <a:xfrm>
              <a:off x="2981739" y="1920240"/>
              <a:ext cx="2560320" cy="347472"/>
            </a:xfrm>
            <a:prstGeom prst="rect">
              <a:avLst/>
            </a:prstGeom>
            <a:solidFill>
              <a:srgbClr val="0F3D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27459" y="1990030"/>
              <a:ext cx="25146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FFFFFF"/>
                  </a:solidFill>
                  <a:latin typeface="Calibri"/>
                </a:rPr>
                <a:t>Configuration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633499" y="1920240"/>
              <a:ext cx="822960" cy="347472"/>
            </a:xfrm>
            <a:prstGeom prst="rect">
              <a:avLst/>
            </a:prstGeom>
            <a:solidFill>
              <a:srgbClr val="0F3D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79219" y="1990030"/>
              <a:ext cx="777240" cy="1869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000" b="1" dirty="0">
                  <a:solidFill>
                    <a:srgbClr val="FFFFFF"/>
                  </a:solidFill>
                  <a:latin typeface="Calibri"/>
                </a:rPr>
                <a:t>Test </a:t>
              </a:r>
              <a:r>
                <a:rPr sz="1000" b="1" i="0" dirty="0">
                  <a:solidFill>
                    <a:srgbClr val="FFFFFF"/>
                  </a:solidFill>
                  <a:latin typeface="Calibri"/>
                </a:rPr>
                <a:t>Top-1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02179" y="1920240"/>
              <a:ext cx="822960" cy="347472"/>
            </a:xfrm>
            <a:prstGeom prst="rect">
              <a:avLst/>
            </a:prstGeom>
            <a:solidFill>
              <a:srgbClr val="0F3D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47899" y="1990030"/>
              <a:ext cx="777240" cy="1869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000" b="1" i="0" dirty="0">
                  <a:solidFill>
                    <a:srgbClr val="FFFFFF"/>
                  </a:solidFill>
                  <a:latin typeface="Calibri"/>
                </a:rPr>
                <a:t>Test </a:t>
              </a:r>
              <a:r>
                <a:rPr sz="1000" b="1" i="0" dirty="0">
                  <a:solidFill>
                    <a:srgbClr val="FFFFFF"/>
                  </a:solidFill>
                  <a:latin typeface="Calibri"/>
                </a:rPr>
                <a:t>Top-5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370859" y="1920240"/>
              <a:ext cx="1097280" cy="347472"/>
            </a:xfrm>
            <a:prstGeom prst="rect">
              <a:avLst/>
            </a:prstGeom>
            <a:solidFill>
              <a:srgbClr val="0F3D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416579" y="1990030"/>
              <a:ext cx="105156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Calibri"/>
                </a:rPr>
                <a:t>Δ Baseline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981739" y="2267712"/>
              <a:ext cx="256032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027459" y="2337502"/>
              <a:ext cx="251460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Baselin</a:t>
              </a:r>
              <a:r>
                <a:rPr lang="en-US" sz="1200" b="0" i="0" dirty="0">
                  <a:solidFill>
                    <a:srgbClr val="1A1A2E"/>
                  </a:solidFill>
                  <a:latin typeface="Calibri"/>
                </a:rPr>
                <a:t>e</a:t>
              </a:r>
              <a:endParaRPr sz="1200" b="0" i="0" dirty="0">
                <a:solidFill>
                  <a:srgbClr val="1A1A2E"/>
                </a:solidFill>
                <a:latin typeface="Calibri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633499" y="2267712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79219" y="2337502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59.48%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02179" y="2267712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47899" y="2337502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82.77%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70859" y="2267712"/>
              <a:ext cx="109728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16579" y="2337502"/>
              <a:ext cx="105156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81739" y="2615184"/>
              <a:ext cx="256032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027459" y="2684974"/>
              <a:ext cx="251460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Calibri"/>
                </a:rPr>
                <a:t>KD T=1,  α=0.7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633499" y="2615184"/>
              <a:ext cx="82296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79219" y="2684974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64.31%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502179" y="2615184"/>
              <a:ext cx="82296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547899" y="2684974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85.56%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370859" y="2615184"/>
              <a:ext cx="109728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16579" y="2684974"/>
              <a:ext cx="105156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+4.83 pp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81739" y="2962656"/>
              <a:ext cx="256032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27459" y="3032446"/>
              <a:ext cx="251460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Calibri"/>
                </a:rPr>
                <a:t>KD T=5,  α=0.7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633499" y="2962656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679219" y="3032446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62.91%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502179" y="2962656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47899" y="3032446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85.65%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370859" y="2962656"/>
              <a:ext cx="109728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16579" y="3032446"/>
              <a:ext cx="105156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+3.43 pp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981739" y="3310128"/>
              <a:ext cx="256032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027459" y="3379918"/>
              <a:ext cx="251460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Calibri"/>
                </a:rPr>
                <a:t>KD T=8,  α=0.7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633499" y="3310128"/>
              <a:ext cx="82296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79219" y="3379918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64.58%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502179" y="3310128"/>
              <a:ext cx="82296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47899" y="3379918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86.94%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370859" y="3310128"/>
              <a:ext cx="109728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16579" y="3379918"/>
              <a:ext cx="105156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+5.10 pp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981739" y="3657600"/>
              <a:ext cx="256032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027459" y="3727390"/>
              <a:ext cx="251460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Calibri"/>
                </a:rPr>
                <a:t>KD T=10, α=0.7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633499" y="3657600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679219" y="3727390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64.47%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502179" y="3657600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547899" y="3727390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86.55%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370859" y="3657600"/>
              <a:ext cx="109728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416579" y="3727390"/>
              <a:ext cx="105156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+4.99 pp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981739" y="4005072"/>
              <a:ext cx="256032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27459" y="4074862"/>
              <a:ext cx="251460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KD T=20, α=0.7  ★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633499" y="4005072"/>
              <a:ext cx="82296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679219" y="4074862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E54800"/>
                  </a:solidFill>
                  <a:latin typeface="Calibri"/>
                </a:rPr>
                <a:t>65.85%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502179" y="4005072"/>
              <a:ext cx="82296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547899" y="4074862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E54800"/>
                  </a:solidFill>
                  <a:latin typeface="Calibri"/>
                </a:rPr>
                <a:t>89.24%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370859" y="4005072"/>
              <a:ext cx="1097280" cy="347472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416579" y="4074862"/>
              <a:ext cx="105156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E54800"/>
                  </a:solidFill>
                  <a:latin typeface="Calibri"/>
                </a:rPr>
                <a:t>+6.37 pp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981739" y="4352544"/>
              <a:ext cx="256032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027459" y="4422334"/>
              <a:ext cx="251460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1A1A2E"/>
                  </a:solidFill>
                  <a:latin typeface="Calibri"/>
                </a:rPr>
                <a:t>Teacher (ResNet-50)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633499" y="4352544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679219" y="4422334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88.82%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502179" y="4352544"/>
              <a:ext cx="82296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547899" y="4422334"/>
              <a:ext cx="77724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98.18%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370859" y="4352544"/>
              <a:ext cx="1097280" cy="347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416579" y="4422334"/>
              <a:ext cx="1051560" cy="210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936018" y="4831998"/>
              <a:ext cx="5486400" cy="3271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/>
                <a:t>A 10-epoch warmup phase (CE-only) stabilizes student weights before soft targets are introduced.</a:t>
              </a:r>
            </a:p>
            <a:p>
              <a:pPr algn="l"/>
              <a:endParaRPr sz="1100" b="0" i="0" dirty="0">
                <a:solidFill>
                  <a:srgbClr val="555555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Test Set Top-1 Accuracy — All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istillation_histogram_test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115214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7150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KD T=20 achieves 65.85% (+6.37 pp vs baseline 59.48%). Performance is monotonically non-decreasing with temperature. AT symmetric and Born-Again Gen3 fall below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Test Set Top-5 Accuracy — All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istillation_histogram_tes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115214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7150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KD T=20 also achieves best Top-5: 89.24% (+6.47 pp vs baseline 82.77%). Soft targets consistently improve ranking quality across all temperature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1F05-20DB-F960-22B5-7C0AE869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3E293D-BC7D-81B2-0B98-5D3D4FA2791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24D3B-FF73-D953-92D0-C0CA0FDFC20D}"/>
              </a:ext>
            </a:extLst>
          </p:cNvPr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F3D91"/>
                </a:solidFill>
                <a:latin typeface="Calibri"/>
              </a:rPr>
              <a:t>LOGIT-BASED KD — TEMPERATURE ABLATION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88916-84D5-074E-7F3D-DF81F07E1D2A}"/>
              </a:ext>
            </a:extLst>
          </p:cNvPr>
          <p:cNvSpPr txBox="1"/>
          <p:nvPr/>
        </p:nvSpPr>
        <p:spPr>
          <a:xfrm>
            <a:off x="411480" y="50292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rgbClr val="0F3D91"/>
                </a:solidFill>
              </a:rPr>
              <a:t>TEMPERATURE ABLATION</a:t>
            </a:r>
            <a:endParaRPr sz="2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19493-1B4C-E014-510B-E3FDF2AC4FD9}"/>
              </a:ext>
            </a:extLst>
          </p:cNvPr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A8DF3-369A-6958-70C5-5FF7F335E0F9}"/>
              </a:ext>
            </a:extLst>
          </p:cNvPr>
          <p:cNvSpPr txBox="1"/>
          <p:nvPr/>
        </p:nvSpPr>
        <p:spPr>
          <a:xfrm>
            <a:off x="411480" y="5715000"/>
            <a:ext cx="11338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050" b="0" i="1" dirty="0" err="1">
                <a:solidFill>
                  <a:srgbClr val="555555"/>
                </a:solidFill>
                <a:latin typeface="Calibri"/>
              </a:rPr>
              <a:t>Placeholder</a:t>
            </a:r>
            <a:endParaRPr lang="it-IT" sz="1050" b="0" i="1" dirty="0">
              <a:solidFill>
                <a:srgbClr val="555555"/>
              </a:solidFill>
              <a:latin typeface="Calibri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2ACAB09-3D0E-BEF4-E933-7CA033133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18" y="1317598"/>
            <a:ext cx="11029387" cy="393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6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QUALITATIVE ANALYSIS — LATENT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A1A2E"/>
                </a:solidFill>
                <a:latin typeface="Calibri"/>
              </a:rPr>
              <a:t>t-SNE </a:t>
            </a:r>
            <a:r>
              <a:rPr lang="it-IT" sz="2600" b="1" i="0" dirty="0" err="1">
                <a:solidFill>
                  <a:srgbClr val="1A1A2E"/>
                </a:solidFill>
                <a:latin typeface="Calibri"/>
              </a:rPr>
              <a:t>Visualization</a:t>
            </a:r>
            <a:endParaRPr lang="it-IT" sz="2600" b="1" i="0" dirty="0">
              <a:solidFill>
                <a:srgbClr val="1A1A2E"/>
              </a:solidFill>
              <a:latin typeface="Calibri"/>
            </a:endParaRPr>
          </a:p>
          <a:p>
            <a:pPr algn="l"/>
            <a:endParaRPr sz="2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555555"/>
                </a:solidFill>
                <a:latin typeface="Calibri"/>
              </a:rPr>
              <a:t>Pre-classifier embeddings for 10 random UCF-101 classes (</a:t>
            </a:r>
            <a:r>
              <a:rPr lang="it-IT" sz="1200" dirty="0">
                <a:solidFill>
                  <a:srgbClr val="1A1A2E"/>
                </a:solidFill>
              </a:rPr>
              <a:t>KD T=20, </a:t>
            </a:r>
            <a:r>
              <a:rPr lang="el-GR" sz="1200" dirty="0">
                <a:solidFill>
                  <a:srgbClr val="1A1A2E"/>
                </a:solidFill>
              </a:rPr>
              <a:t>α=0.7</a:t>
            </a:r>
            <a:r>
              <a:rPr sz="1200" b="0" i="1" dirty="0">
                <a:solidFill>
                  <a:srgbClr val="555555"/>
                </a:solidFill>
                <a:latin typeface="Calibri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7376" y="5199620"/>
            <a:ext cx="16094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0F3D91"/>
                </a:solidFill>
                <a:latin typeface="Calibri"/>
              </a:rPr>
              <a:t>Teacher (ResNet-50):</a:t>
            </a:r>
          </a:p>
          <a:p>
            <a:pPr algn="l"/>
            <a:r>
              <a:rPr sz="1050" b="0" dirty="0">
                <a:solidFill>
                  <a:srgbClr val="1A1A2E"/>
                </a:solidFill>
                <a:latin typeface="Calibri"/>
              </a:rPr>
              <a:t> Compact, well-separated  </a:t>
            </a:r>
            <a:endParaRPr lang="it-IT" sz="1050" b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1008F047-C4E8-266C-3AAF-30D5556A2206}"/>
              </a:ext>
            </a:extLst>
          </p:cNvPr>
          <p:cNvSpPr txBox="1"/>
          <p:nvPr/>
        </p:nvSpPr>
        <p:spPr>
          <a:xfrm>
            <a:off x="3990360" y="5199620"/>
            <a:ext cx="18199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E54800"/>
                </a:solidFill>
              </a:rPr>
              <a:t>Baseline MobileNet3D:</a:t>
            </a:r>
          </a:p>
          <a:p>
            <a:r>
              <a:rPr lang="en-US" sz="1050" dirty="0">
                <a:solidFill>
                  <a:srgbClr val="1A1A2E"/>
                </a:solidFill>
              </a:rPr>
              <a:t> Significant inter-class overlap  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03F913BC-BB63-64C8-688E-F862A462B0E7}"/>
              </a:ext>
            </a:extLst>
          </p:cNvPr>
          <p:cNvSpPr txBox="1"/>
          <p:nvPr/>
        </p:nvSpPr>
        <p:spPr>
          <a:xfrm>
            <a:off x="7428505" y="5159553"/>
            <a:ext cx="25371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228844"/>
                </a:solidFill>
              </a:rPr>
              <a:t>Distilled Student:</a:t>
            </a:r>
          </a:p>
          <a:p>
            <a:r>
              <a:rPr lang="en-US" sz="1050" dirty="0">
                <a:solidFill>
                  <a:srgbClr val="1A1A2E"/>
                </a:solidFill>
              </a:rPr>
              <a:t> Tighter clusters, improved class separation</a:t>
            </a:r>
            <a:endParaRPr lang="it-IT" sz="1050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F82DA3B3-04E2-6434-0E4F-EC0B3ECDC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14" y="1877199"/>
            <a:ext cx="11763692" cy="33002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BEST EXPERIMENT — KD T=20, α=0.7 | Training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 dirty="0">
                <a:solidFill>
                  <a:srgbClr val="1A1A2E"/>
                </a:solidFill>
                <a:latin typeface="Calibri"/>
              </a:rPr>
              <a:t>Training Curves — KD T=20</a:t>
            </a:r>
            <a:r>
              <a:rPr lang="it-IT" sz="2600" b="1" i="0" dirty="0">
                <a:solidFill>
                  <a:srgbClr val="1A1A2E"/>
                </a:solidFill>
                <a:latin typeface="Calibri"/>
              </a:rPr>
              <a:t>,</a:t>
            </a:r>
            <a:r>
              <a:rPr lang="el-GR" sz="2800" dirty="0">
                <a:solidFill>
                  <a:srgbClr val="1A1A2E"/>
                </a:solidFill>
              </a:rPr>
              <a:t> </a:t>
            </a:r>
            <a:r>
              <a:rPr lang="el-GR" sz="2800" b="1" dirty="0">
                <a:solidFill>
                  <a:srgbClr val="1A1A2E"/>
                </a:solidFill>
              </a:rPr>
              <a:t>α=0.7</a:t>
            </a:r>
            <a:r>
              <a:rPr lang="it-IT" sz="2600" b="1" dirty="0">
                <a:solidFill>
                  <a:srgbClr val="1A1A2E"/>
                </a:solidFill>
                <a:latin typeface="Calibri"/>
              </a:rPr>
              <a:t> </a:t>
            </a:r>
            <a:endParaRPr sz="2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Loss and Top-1/Top-5 accuracy over 60 epochs + cosine LR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d_t20_a07_24f_lightau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852160" cy="3017520"/>
          </a:xfrm>
          <a:prstGeom prst="rect">
            <a:avLst/>
          </a:prstGeom>
        </p:spPr>
      </p:pic>
      <p:pic>
        <p:nvPicPr>
          <p:cNvPr id="8" name="Picture 7" descr="kd_t20_a07_24f_lightaug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852160" cy="3017520"/>
          </a:xfrm>
          <a:prstGeom prst="rect">
            <a:avLst/>
          </a:prstGeom>
        </p:spPr>
      </p:pic>
      <p:pic>
        <p:nvPicPr>
          <p:cNvPr id="9" name="Picture 8" descr="kd_t20_a07_24f_lightaug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433183"/>
            <a:ext cx="5033838" cy="2106433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F16D9BC1-5A94-B841-B6C9-D11298C3D4C9}"/>
              </a:ext>
            </a:extLst>
          </p:cNvPr>
          <p:cNvGrpSpPr/>
          <p:nvPr/>
        </p:nvGrpSpPr>
        <p:grpSpPr>
          <a:xfrm>
            <a:off x="6172200" y="4596516"/>
            <a:ext cx="5281654" cy="1758564"/>
            <a:chOff x="6698312" y="4572000"/>
            <a:chExt cx="5281654" cy="1758564"/>
          </a:xfrm>
        </p:grpSpPr>
        <p:sp>
          <p:nvSpPr>
            <p:cNvPr id="10" name="Rectangle 9"/>
            <p:cNvSpPr/>
            <p:nvPr/>
          </p:nvSpPr>
          <p:spPr>
            <a:xfrm>
              <a:off x="6698312" y="4572000"/>
              <a:ext cx="5281654" cy="1758564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35472" y="4660761"/>
              <a:ext cx="509148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dirty="0">
                  <a:solidFill>
                    <a:srgbClr val="0F3D91"/>
                  </a:solidFill>
                </a:rPr>
                <a:t>Analysis</a:t>
              </a:r>
              <a:endParaRPr sz="1200" b="1" i="0" dirty="0">
                <a:solidFill>
                  <a:srgbClr val="0F3D91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35472" y="4937760"/>
              <a:ext cx="5018598" cy="1102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50" dirty="0">
                  <a:solidFill>
                    <a:srgbClr val="1A1A2E"/>
                  </a:solidFill>
                </a:rPr>
                <a:t>Overfitting is observed in the curves. This is due to the small size of the UCF-101 dataset and because the student MobileNet3D is trained from scratch (unlike the pre-trained ResNet-50 teacher). To combat this, '</a:t>
              </a:r>
              <a:r>
                <a:rPr lang="en-US" sz="1050" dirty="0" err="1">
                  <a:solidFill>
                    <a:srgbClr val="1A1A2E"/>
                  </a:solidFill>
                </a:rPr>
                <a:t>lightaug</a:t>
              </a:r>
              <a:r>
                <a:rPr lang="en-US" sz="1050" dirty="0">
                  <a:solidFill>
                    <a:srgbClr val="1A1A2E"/>
                  </a:solidFill>
                </a:rPr>
                <a:t>' (light data augmentation) was introduced.</a:t>
              </a:r>
            </a:p>
            <a:p>
              <a:pPr>
                <a:lnSpc>
                  <a:spcPts val="1600"/>
                </a:lnSpc>
              </a:pPr>
              <a:r>
                <a:rPr lang="en-US" sz="1050" dirty="0">
                  <a:solidFill>
                    <a:srgbClr val="1A1A2E"/>
                  </a:solidFill>
                </a:rPr>
                <a:t>This helped the student generalize better to the validation set, even though it resulted in a slightly higher training loss.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KD T=20 FULL (101 Classes, Normalized)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 dirty="0">
                <a:solidFill>
                  <a:srgbClr val="1A1A2E"/>
                </a:solidFill>
                <a:latin typeface="Calibri"/>
              </a:rPr>
              <a:t>Confusion Matrix —</a:t>
            </a:r>
            <a:r>
              <a:rPr lang="it-IT" sz="2600" b="1" dirty="0">
                <a:solidFill>
                  <a:srgbClr val="1A1A2E"/>
                </a:solidFill>
              </a:rPr>
              <a:t> KD T=20,</a:t>
            </a:r>
            <a:r>
              <a:rPr lang="it-IT" sz="2800" dirty="0">
                <a:solidFill>
                  <a:srgbClr val="1A1A2E"/>
                </a:solidFill>
              </a:rPr>
              <a:t> </a:t>
            </a:r>
            <a:r>
              <a:rPr lang="el-GR" sz="2800" b="1" dirty="0">
                <a:solidFill>
                  <a:srgbClr val="1A1A2E"/>
                </a:solidFill>
              </a:rPr>
              <a:t>α=0.7</a:t>
            </a:r>
            <a:r>
              <a:rPr lang="el-GR" sz="2600" b="1" dirty="0">
                <a:solidFill>
                  <a:srgbClr val="1A1A2E"/>
                </a:solidFill>
              </a:rPr>
              <a:t> </a:t>
            </a:r>
            <a:endParaRPr sz="2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All 101 UCF-101 classes on the official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6A679F2A-C7DE-C00E-992D-FD1222B41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59" y="1607603"/>
            <a:ext cx="4639850" cy="3408341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53F29FC1-74B0-34E8-72CA-397B21E2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607604"/>
            <a:ext cx="4639849" cy="3408342"/>
          </a:xfrm>
          <a:prstGeom prst="rect">
            <a:avLst/>
          </a:prstGeom>
        </p:spPr>
      </p:pic>
      <p:sp>
        <p:nvSpPr>
          <p:cNvPr id="35" name="Rectangle 7">
            <a:extLst>
              <a:ext uri="{FF2B5EF4-FFF2-40B4-BE49-F238E27FC236}">
                <a16:creationId xmlns:a16="http://schemas.microsoft.com/office/drawing/2014/main" id="{CE842451-C25A-5EEB-F242-CED4DDB509A1}"/>
              </a:ext>
            </a:extLst>
          </p:cNvPr>
          <p:cNvSpPr/>
          <p:nvPr/>
        </p:nvSpPr>
        <p:spPr>
          <a:xfrm>
            <a:off x="411480" y="5307031"/>
            <a:ext cx="11216773" cy="1350597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BASELINE vs BEST (KD T=20, α=0.7)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Confusion Matrix — Top 25 Hardest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Comparison: Baseline (left) vs KD T=20 (right)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edictions_baseline_ls005_24f_lightaug_to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5852160" cy="4983480"/>
          </a:xfrm>
          <a:prstGeom prst="rect">
            <a:avLst/>
          </a:prstGeom>
        </p:spPr>
      </p:pic>
      <p:pic>
        <p:nvPicPr>
          <p:cNvPr id="8" name="Picture 7" descr="predictions_kd_t20_a07_24f_lightaug_top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760720" cy="4983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6446520"/>
            <a:ext cx="585216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6480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4800"/>
                </a:solidFill>
                <a:latin typeface="Calibri"/>
              </a:rPr>
              <a:t>Baseline MobileNet3D — 59.48% Top-1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6446520"/>
            <a:ext cx="576072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646480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3D91"/>
                </a:solidFill>
                <a:latin typeface="Calibri"/>
              </a:rPr>
              <a:t>KD T=20 (Best) — 65.85% Top-1  (+6.37 pp)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0">
            <a:extLst>
              <a:ext uri="{FF2B5EF4-FFF2-40B4-BE49-F238E27FC236}">
                <a16:creationId xmlns:a16="http://schemas.microsoft.com/office/drawing/2014/main" id="{0C662775-A5FC-538C-7CE8-DC1B81C8EDA1}"/>
              </a:ext>
            </a:extLst>
          </p:cNvPr>
          <p:cNvSpPr/>
          <p:nvPr/>
        </p:nvSpPr>
        <p:spPr>
          <a:xfrm>
            <a:off x="8229600" y="3767328"/>
            <a:ext cx="3474720" cy="2020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CC68C5A2-30D7-5A65-5F9B-5E2CDB587EE1}"/>
              </a:ext>
            </a:extLst>
          </p:cNvPr>
          <p:cNvSpPr/>
          <p:nvPr/>
        </p:nvSpPr>
        <p:spPr>
          <a:xfrm>
            <a:off x="4214854" y="3767328"/>
            <a:ext cx="3603266" cy="2020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B170A8F0-C0A9-9742-4DC2-8C0D3F7D6566}"/>
              </a:ext>
            </a:extLst>
          </p:cNvPr>
          <p:cNvSpPr/>
          <p:nvPr/>
        </p:nvSpPr>
        <p:spPr>
          <a:xfrm>
            <a:off x="411480" y="3767328"/>
            <a:ext cx="3474720" cy="2020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CONFUSION MATRIX — TOP 5 ERRORS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Error Analysis — Top 5 Hardest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Relationship between baseline and distillation (KD T=20) top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62456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859890"/>
            <a:ext cx="347472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05610"/>
            <a:ext cx="3383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0B050"/>
                </a:solidFill>
                <a:latin typeface="Calibri"/>
              </a:rPr>
              <a:t>+65.7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36983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555555"/>
                </a:solidFill>
                <a:latin typeface="Calibri"/>
              </a:rPr>
              <a:t>WallPushups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
Accuracy Gain (0% → 65.7%)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59890"/>
            <a:ext cx="34747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905610"/>
            <a:ext cx="3383280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-9.1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36983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Hammering
Accuracy Drop (12.1% → 3.0%)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859890"/>
            <a:ext cx="347472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905610"/>
            <a:ext cx="3383280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Top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36983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  <a:latin typeface="Calibri"/>
              </a:rPr>
              <a:t>HandstandWalking
Persistent difficulty (~94% error)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729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Relationship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93008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767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Shared Challenges (Persistent)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33088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HandstandWalking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and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Nunchucks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remain in the top 5 errors for both models: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HandstandWalking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: 2.94% → 5.88% (+2.94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Nunchucks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: 11.43% → 20.00% (+8.57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MoppingFloor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: 11.76% → 20.59% (+8.82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Complex dynamics: These classes feature rapid, complex body motion sequences that remain hard to capture.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Persistent confusions: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MoppingFloor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is heavily confused with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HandstandWalking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in both (26.5% vs 29.4%).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767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Greatest Successes (KD Resolution)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133088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KD regularizes baseline's worst classes by providing soft inter-class targets: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WallPushups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: 0.00% → 65.71% (+65.71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HeadMassage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: 12.20% → 41.46% (+29.26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JumpRope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: 10.53% → 23.68% (+13.16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Teacher soft logits guide the student through subtle motion boundaries.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Clear confusions: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JumpRope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confusion with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JumpingJack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falls from 18.4% to 0%.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67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Unexpected Regressions (Trade-offs)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33088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Distillation degrades classes requiring fine-grained or fast periodic cues: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Hammering: 12.12% → 3.03% (−9.09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PizzaTossing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: 27.27% → 15.15% (−12.12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  - Archery: 29.27% → 19.51% (−9.76 pp)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Over-smoothing: At T=20, soft targets smooth out fine visual details (e.g. hammer/pizza shape).</a:t>
            </a:r>
          </a:p>
          <a:p>
            <a:pPr algn="l">
              <a:lnSpc>
                <a:spcPts val="1300"/>
              </a:lnSpc>
            </a:pPr>
            <a:r>
              <a:rPr sz="1000" b="0" dirty="0">
                <a:solidFill>
                  <a:srgbClr val="1A1A2E"/>
                </a:solidFill>
                <a:latin typeface="Calibri"/>
              </a:rPr>
              <a:t>• High confusion: Hammering gets confused with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PlayingSitar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(12.1%); Archery with </a:t>
            </a:r>
            <a:r>
              <a:rPr sz="1000" b="0" dirty="0" err="1">
                <a:solidFill>
                  <a:srgbClr val="1A1A2E"/>
                </a:solidFill>
                <a:latin typeface="Calibri"/>
              </a:rPr>
              <a:t>WritingOnBoard</a:t>
            </a:r>
            <a:r>
              <a:rPr sz="1000" b="0" dirty="0">
                <a:solidFill>
                  <a:srgbClr val="1A1A2E"/>
                </a:solidFill>
                <a:latin typeface="Calibri"/>
              </a:rPr>
              <a:t> (22.0%).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70134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QUALITATIVE — KD IMPACT PER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KD T=20 vs Baseline — Per-Class Accuracy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Top improvements and regressions across UCF-101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lta_accuracy_kd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78" y="1417320"/>
            <a:ext cx="7916186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74824" y="1901952"/>
            <a:ext cx="1878098" cy="3485057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66264" y="1965960"/>
            <a:ext cx="112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D91"/>
                </a:solidFill>
                <a:latin typeface="Calibri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6263" y="2331720"/>
            <a:ext cx="17005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it-IT" sz="1400" b="1" dirty="0">
                <a:solidFill>
                  <a:srgbClr val="28A745"/>
                </a:solidFill>
              </a:rPr>
              <a:t>Top gains:</a:t>
            </a:r>
          </a:p>
          <a:p>
            <a:pPr>
              <a:lnSpc>
                <a:spcPts val="1200"/>
              </a:lnSpc>
            </a:pPr>
            <a:r>
              <a:rPr lang="it-IT" sz="1100" dirty="0" err="1">
                <a:solidFill>
                  <a:srgbClr val="1A1A2E"/>
                </a:solidFill>
              </a:rPr>
              <a:t>WallPushups</a:t>
            </a:r>
            <a:r>
              <a:rPr lang="it-IT" sz="1100" dirty="0">
                <a:solidFill>
                  <a:srgbClr val="1A1A2E"/>
                </a:solidFill>
              </a:rPr>
              <a:t> +65.7%</a:t>
            </a:r>
          </a:p>
          <a:p>
            <a:pPr>
              <a:lnSpc>
                <a:spcPts val="1200"/>
              </a:lnSpc>
            </a:pPr>
            <a:r>
              <a:rPr lang="it-IT" sz="1100" dirty="0" err="1">
                <a:solidFill>
                  <a:srgbClr val="1A1A2E"/>
                </a:solidFill>
              </a:rPr>
              <a:t>HeadMassage</a:t>
            </a:r>
            <a:r>
              <a:rPr lang="it-IT" sz="1100" dirty="0">
                <a:solidFill>
                  <a:srgbClr val="1A1A2E"/>
                </a:solidFill>
              </a:rPr>
              <a:t> +29.3%</a:t>
            </a:r>
          </a:p>
          <a:p>
            <a:pPr>
              <a:lnSpc>
                <a:spcPts val="1200"/>
              </a:lnSpc>
            </a:pPr>
            <a:r>
              <a:rPr lang="it-IT" sz="1100" dirty="0">
                <a:solidFill>
                  <a:srgbClr val="1A1A2E"/>
                </a:solidFill>
              </a:rPr>
              <a:t>JavelinThrow +29.0%</a:t>
            </a:r>
          </a:p>
          <a:p>
            <a:pPr>
              <a:lnSpc>
                <a:spcPts val="1200"/>
              </a:lnSpc>
            </a:pPr>
            <a:r>
              <a:rPr lang="it-IT" sz="1100" dirty="0">
                <a:solidFill>
                  <a:srgbClr val="1A1A2E"/>
                </a:solidFill>
              </a:rPr>
              <a:t>Drumming +28.9%</a:t>
            </a:r>
          </a:p>
          <a:p>
            <a:pPr>
              <a:lnSpc>
                <a:spcPts val="1200"/>
              </a:lnSpc>
            </a:pPr>
            <a:endParaRPr lang="it-IT" sz="1100" dirty="0">
              <a:solidFill>
                <a:srgbClr val="1A1A2E"/>
              </a:solidFill>
            </a:endParaRPr>
          </a:p>
          <a:p>
            <a:pPr>
              <a:lnSpc>
                <a:spcPts val="1200"/>
              </a:lnSpc>
            </a:pPr>
            <a:r>
              <a:rPr lang="it-IT" sz="1100" dirty="0">
                <a:solidFill>
                  <a:srgbClr val="1A1A2E"/>
                </a:solidFill>
              </a:rPr>
              <a:t>Winners share </a:t>
            </a:r>
            <a:r>
              <a:rPr lang="it-IT" sz="1100" dirty="0" err="1">
                <a:solidFill>
                  <a:srgbClr val="1A1A2E"/>
                </a:solidFill>
              </a:rPr>
              <a:t>subtle</a:t>
            </a:r>
            <a:r>
              <a:rPr lang="it-IT" sz="1100" dirty="0">
                <a:solidFill>
                  <a:srgbClr val="1A1A2E"/>
                </a:solidFill>
              </a:rPr>
              <a:t> </a:t>
            </a:r>
            <a:r>
              <a:rPr lang="it-IT" sz="1100" dirty="0" err="1">
                <a:solidFill>
                  <a:srgbClr val="1A1A2E"/>
                </a:solidFill>
              </a:rPr>
              <a:t>motion</a:t>
            </a:r>
            <a:r>
              <a:rPr lang="it-IT" sz="1100" dirty="0">
                <a:solidFill>
                  <a:srgbClr val="1A1A2E"/>
                </a:solidFill>
              </a:rPr>
              <a:t> patterns </a:t>
            </a:r>
            <a:r>
              <a:rPr lang="it-IT" sz="1100" dirty="0" err="1">
                <a:solidFill>
                  <a:srgbClr val="1A1A2E"/>
                </a:solidFill>
              </a:rPr>
              <a:t>that</a:t>
            </a:r>
            <a:r>
              <a:rPr lang="it-IT" sz="1100" dirty="0">
                <a:solidFill>
                  <a:srgbClr val="1A1A2E"/>
                </a:solidFill>
              </a:rPr>
              <a:t> the </a:t>
            </a:r>
            <a:r>
              <a:rPr lang="it-IT" sz="1100" dirty="0" err="1">
                <a:solidFill>
                  <a:srgbClr val="1A1A2E"/>
                </a:solidFill>
              </a:rPr>
              <a:t>teacher's</a:t>
            </a:r>
            <a:r>
              <a:rPr lang="it-IT" sz="1100" dirty="0">
                <a:solidFill>
                  <a:srgbClr val="1A1A2E"/>
                </a:solidFill>
              </a:rPr>
              <a:t> soft </a:t>
            </a:r>
            <a:r>
              <a:rPr lang="it-IT" sz="1100" dirty="0" err="1">
                <a:solidFill>
                  <a:srgbClr val="1A1A2E"/>
                </a:solidFill>
              </a:rPr>
              <a:t>logits</a:t>
            </a:r>
            <a:r>
              <a:rPr lang="it-IT" sz="1100" dirty="0">
                <a:solidFill>
                  <a:srgbClr val="1A1A2E"/>
                </a:solidFill>
              </a:rPr>
              <a:t> </a:t>
            </a:r>
            <a:r>
              <a:rPr lang="it-IT" sz="1100" dirty="0" err="1">
                <a:solidFill>
                  <a:srgbClr val="1A1A2E"/>
                </a:solidFill>
              </a:rPr>
              <a:t>clarify</a:t>
            </a:r>
            <a:r>
              <a:rPr lang="it-IT" sz="1100" dirty="0">
                <a:solidFill>
                  <a:srgbClr val="1A1A2E"/>
                </a:solidFill>
              </a:rPr>
              <a:t>.</a:t>
            </a:r>
          </a:p>
          <a:p>
            <a:pPr>
              <a:lnSpc>
                <a:spcPts val="1200"/>
              </a:lnSpc>
            </a:pPr>
            <a:endParaRPr lang="it-IT" sz="1100" dirty="0">
              <a:solidFill>
                <a:srgbClr val="1A1A2E"/>
              </a:solidFill>
            </a:endParaRPr>
          </a:p>
          <a:p>
            <a:pPr>
              <a:lnSpc>
                <a:spcPts val="1200"/>
              </a:lnSpc>
            </a:pPr>
            <a:r>
              <a:rPr lang="it-IT" sz="1400" b="1" dirty="0" err="1">
                <a:solidFill>
                  <a:srgbClr val="DC3545"/>
                </a:solidFill>
              </a:rPr>
              <a:t>Regressions</a:t>
            </a:r>
            <a:r>
              <a:rPr lang="it-IT" sz="1400" b="1" dirty="0">
                <a:solidFill>
                  <a:srgbClr val="DC3545"/>
                </a:solidFill>
              </a:rPr>
              <a:t>:</a:t>
            </a:r>
          </a:p>
          <a:p>
            <a:pPr>
              <a:lnSpc>
                <a:spcPts val="1200"/>
              </a:lnSpc>
            </a:pPr>
            <a:r>
              <a:rPr lang="it-IT" sz="1100" dirty="0" err="1">
                <a:solidFill>
                  <a:srgbClr val="1A1A2E"/>
                </a:solidFill>
              </a:rPr>
              <a:t>JumpingJack</a:t>
            </a:r>
            <a:r>
              <a:rPr lang="it-IT" sz="1100" dirty="0">
                <a:solidFill>
                  <a:srgbClr val="1A1A2E"/>
                </a:solidFill>
              </a:rPr>
              <a:t> −16.2%</a:t>
            </a:r>
          </a:p>
          <a:p>
            <a:pPr>
              <a:lnSpc>
                <a:spcPts val="1200"/>
              </a:lnSpc>
            </a:pPr>
            <a:r>
              <a:rPr lang="it-IT" sz="1100" dirty="0" err="1">
                <a:solidFill>
                  <a:srgbClr val="1A1A2E"/>
                </a:solidFill>
              </a:rPr>
              <a:t>TennisSwing</a:t>
            </a:r>
            <a:r>
              <a:rPr lang="it-IT" sz="1100" dirty="0">
                <a:solidFill>
                  <a:srgbClr val="1A1A2E"/>
                </a:solidFill>
              </a:rPr>
              <a:t> −14.3%</a:t>
            </a:r>
          </a:p>
          <a:p>
            <a:pPr>
              <a:lnSpc>
                <a:spcPts val="1200"/>
              </a:lnSpc>
            </a:pPr>
            <a:endParaRPr lang="it-IT" sz="1100" dirty="0">
              <a:solidFill>
                <a:srgbClr val="1A1A2E"/>
              </a:solidFill>
            </a:endParaRPr>
          </a:p>
          <a:p>
            <a:pPr>
              <a:lnSpc>
                <a:spcPts val="1200"/>
              </a:lnSpc>
            </a:pPr>
            <a:r>
              <a:rPr lang="it-IT" sz="1100" dirty="0">
                <a:solidFill>
                  <a:srgbClr val="1A1A2E"/>
                </a:solidFill>
              </a:rPr>
              <a:t>High-energy </a:t>
            </a:r>
            <a:r>
              <a:rPr lang="it-IT" sz="1100" dirty="0" err="1">
                <a:solidFill>
                  <a:srgbClr val="1A1A2E"/>
                </a:solidFill>
              </a:rPr>
              <a:t>periodical</a:t>
            </a:r>
            <a:r>
              <a:rPr lang="it-IT" sz="1100" dirty="0">
                <a:solidFill>
                  <a:srgbClr val="1A1A2E"/>
                </a:solidFill>
              </a:rPr>
              <a:t> actions </a:t>
            </a:r>
            <a:r>
              <a:rPr lang="it-IT" sz="1100" dirty="0" err="1">
                <a:solidFill>
                  <a:srgbClr val="1A1A2E"/>
                </a:solidFill>
              </a:rPr>
              <a:t>where</a:t>
            </a:r>
            <a:r>
              <a:rPr lang="it-IT" sz="1100" dirty="0">
                <a:solidFill>
                  <a:srgbClr val="1A1A2E"/>
                </a:solidFill>
              </a:rPr>
              <a:t> </a:t>
            </a:r>
            <a:r>
              <a:rPr lang="it-IT" sz="1100" dirty="0" err="1">
                <a:solidFill>
                  <a:srgbClr val="1A1A2E"/>
                </a:solidFill>
              </a:rPr>
              <a:t>teacher</a:t>
            </a:r>
            <a:r>
              <a:rPr lang="it-IT" sz="1100" dirty="0">
                <a:solidFill>
                  <a:srgbClr val="1A1A2E"/>
                </a:solidFill>
              </a:rPr>
              <a:t> soft targets </a:t>
            </a:r>
            <a:r>
              <a:rPr lang="it-IT" sz="1100" dirty="0" err="1">
                <a:solidFill>
                  <a:srgbClr val="1A1A2E"/>
                </a:solidFill>
              </a:rPr>
              <a:t>add</a:t>
            </a:r>
            <a:r>
              <a:rPr lang="it-IT" sz="1100" dirty="0">
                <a:solidFill>
                  <a:srgbClr val="1A1A2E"/>
                </a:solidFill>
              </a:rPr>
              <a:t> </a:t>
            </a:r>
            <a:r>
              <a:rPr lang="it-IT" sz="1100" dirty="0" err="1">
                <a:solidFill>
                  <a:srgbClr val="1A1A2E"/>
                </a:solidFill>
              </a:rPr>
              <a:t>noise</a:t>
            </a:r>
            <a:r>
              <a:rPr lang="it-IT" sz="1100" dirty="0">
                <a:solidFill>
                  <a:srgbClr val="1A1A2E"/>
                </a:solidFill>
              </a:rPr>
              <a:t> vs. one-hot targets.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ATTENTION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Attention Transfer (AT)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Aligning spatial/temporal activation maps across network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L2-normalized squared activation maps from matched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stages aligned between teacher (ResNet-50) and student.</a:t>
            </a:r>
          </a:p>
          <a:p>
            <a:pPr algn="l">
              <a:lnSpc>
                <a:spcPts val="1500"/>
              </a:lnSpc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L_total = L_KD + β_s·L_AT_spatial + β_t·L_AT_temporal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800"/>
                </a:solidFill>
                <a:latin typeface="Calibri"/>
              </a:rPr>
              <a:t>Bug Fixed: Key-5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Initial config: block [3,4,5] of teacher.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Block 5 = classification head (2D) → constant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attention map at 1.0 → AT loss silently vanished.</a:t>
            </a:r>
          </a:p>
          <a:p>
            <a:pPr algn="l">
              <a:lnSpc>
                <a:spcPts val="1500"/>
              </a:lnSpc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Fix: mapping [2,3,4]→[2,4,6] (ResNet→MobileNet).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Stages share spatial resolutions: 28×28, 14×14, 7×7.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08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AT Results (Group-Aware Protocol, slurm-4601)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3200400" cy="3657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Experiment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1920240"/>
            <a:ext cx="914400" cy="3657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920240"/>
            <a:ext cx="914400" cy="3657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28600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Baseline (T=8, α=0.7)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228600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58.92%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228600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84.93%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65176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AT Symmetric (β_s=β_t=0.05)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265176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59.42%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265176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85.04%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01752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AT Heavy Temporal (β_t=0.07)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301752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59.40%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69880" y="301752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84.99%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38328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Late-Stage AT ([4]→[6])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338328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976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61.59%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338328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87.52%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74904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7220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Temporal-Only (β_s=0)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64040" y="374904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6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62.07%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69880" y="3749040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1560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87.05%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11480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722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KD Opt. T=10, α=0.9, wup10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411480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0976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62.62%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80" y="4114800"/>
            <a:ext cx="914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51560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87.02%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480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3D91"/>
                </a:solidFill>
                <a:latin typeface="Calibri"/>
              </a:rPr>
              <a:t>Interpretation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84632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Spatial AT: </a:t>
            </a:r>
            <a:r>
              <a:rPr sz="1050" b="0" dirty="0" err="1">
                <a:solidFill>
                  <a:srgbClr val="1A1A2E"/>
                </a:solidFill>
                <a:latin typeface="Calibri"/>
              </a:rPr>
              <a:t>depthwise</a:t>
            </a:r>
            <a:r>
              <a:rPr sz="1050" b="0" dirty="0">
                <a:solidFill>
                  <a:srgbClr val="1A1A2E"/>
                </a:solidFill>
                <a:latin typeface="Calibri"/>
              </a:rPr>
              <a:t> ↔ standard conv gap limits alignment quality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Interpolation artifacts degrade spatial AT signal → acts as noise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Temporal-only AT avoids spatial distortion → best AT variant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Pure KD T=20 (65.85%) outperforms all AT variants by a large margin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960DFA98-00D5-4E7D-94B9-BE1BC6F72DDF}"/>
              </a:ext>
            </a:extLst>
          </p:cNvPr>
          <p:cNvSpPr/>
          <p:nvPr/>
        </p:nvSpPr>
        <p:spPr>
          <a:xfrm>
            <a:off x="8249147" y="1792224"/>
            <a:ext cx="3603266" cy="2020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ATTENTION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Attention Transfer (AT)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Aligning spatial/temporal activation maps across network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1" y="1554480"/>
            <a:ext cx="4637598" cy="161279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387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500439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L2-normalized squared activation maps from matched stages aligned between teacher (ResNet-50) and student.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Loss = L_KD + β_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s·L_AT_spatial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 + β_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t·L_AT_temporal</a:t>
            </a:r>
            <a:endParaRPr sz="1200" b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42976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Results (Group-Aware Protocol, slurm-4601)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663440"/>
            <a:ext cx="35661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Calibri"/>
              </a:rPr>
              <a:t>64.58%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AT Symmetric (β_s=0.05, β_t=0.05)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663440"/>
            <a:ext cx="35661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Calibri"/>
              </a:rPr>
              <a:t>65.03%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AT Temporal-Only (β_s=0)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4663440"/>
            <a:ext cx="35661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D91"/>
                </a:solidFill>
                <a:latin typeface="Calibri"/>
              </a:rPr>
              <a:t>65.85%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3D91"/>
                </a:solidFill>
                <a:latin typeface="Calibri"/>
              </a:rPr>
              <a:t>Pure KD T=20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15/23</a:t>
            </a:r>
          </a:p>
        </p:txBody>
      </p:sp>
      <p:sp>
        <p:nvSpPr>
          <p:cNvPr id="24" name="TextBox 54">
            <a:extLst>
              <a:ext uri="{FF2B5EF4-FFF2-40B4-BE49-F238E27FC236}">
                <a16:creationId xmlns:a16="http://schemas.microsoft.com/office/drawing/2014/main" id="{CD608A01-40E2-B2BD-2E7C-88D3E26FADFD}"/>
              </a:ext>
            </a:extLst>
          </p:cNvPr>
          <p:cNvSpPr txBox="1"/>
          <p:nvPr/>
        </p:nvSpPr>
        <p:spPr>
          <a:xfrm>
            <a:off x="8442961" y="1997500"/>
            <a:ext cx="3215639" cy="161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Spatial AT: </a:t>
            </a:r>
            <a:r>
              <a:rPr sz="1050" b="0" dirty="0" err="1">
                <a:solidFill>
                  <a:srgbClr val="1A1A2E"/>
                </a:solidFill>
                <a:latin typeface="Calibri"/>
              </a:rPr>
              <a:t>depthwise</a:t>
            </a:r>
            <a:r>
              <a:rPr sz="1050" b="0" dirty="0">
                <a:solidFill>
                  <a:srgbClr val="1A1A2E"/>
                </a:solidFill>
                <a:latin typeface="Calibri"/>
              </a:rPr>
              <a:t> ↔ standard conv gap limits alignment quality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Interpolation artifacts degrade spatial AT signal → acts as noise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Temporal-only AT avoids spatial distortion → best AT variant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Pure KD T=20 (65.85%) outperforms all AT variants by a large margin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21A32-FAF4-22ED-3B62-FE2A20B0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3F0BE0-DE61-30DA-9414-F68559ABCEB9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5A4E6-2783-ED80-6D89-7E1464750943}"/>
              </a:ext>
            </a:extLst>
          </p:cNvPr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ATTENTION TRANSFER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8F917-D9EA-A70A-3A73-B8F953FB1448}"/>
              </a:ext>
            </a:extLst>
          </p:cNvPr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Attention Transfer (AT)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AC3D1-D8A4-7057-6F4C-971F61C96E64}"/>
              </a:ext>
            </a:extLst>
          </p:cNvPr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Aligning spatial/temporal activation maps across network stages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4FBB36-3B1C-DEB1-DCDF-B8EF945D45F9}"/>
              </a:ext>
            </a:extLst>
          </p:cNvPr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48908-58BA-05A6-FB92-97A853F98A46}"/>
              </a:ext>
            </a:extLst>
          </p:cNvPr>
          <p:cNvSpPr/>
          <p:nvPr/>
        </p:nvSpPr>
        <p:spPr>
          <a:xfrm>
            <a:off x="411479" y="1683157"/>
            <a:ext cx="4253286" cy="123331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9916B-8806-F6FB-3B75-774023BBEF61}"/>
              </a:ext>
            </a:extLst>
          </p:cNvPr>
          <p:cNvSpPr txBox="1"/>
          <p:nvPr/>
        </p:nvSpPr>
        <p:spPr>
          <a:xfrm>
            <a:off x="626262" y="1774597"/>
            <a:ext cx="983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AFADA-CEC1-0AE0-645D-CA2027DEFFE8}"/>
              </a:ext>
            </a:extLst>
          </p:cNvPr>
          <p:cNvSpPr txBox="1"/>
          <p:nvPr/>
        </p:nvSpPr>
        <p:spPr>
          <a:xfrm>
            <a:off x="626261" y="2048917"/>
            <a:ext cx="3846872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L2-normalized squared activation maps from matched stages aligned between teacher (ResNet-50) and student.</a:t>
            </a:r>
          </a:p>
          <a:p>
            <a:pPr algn="l">
              <a:lnSpc>
                <a:spcPts val="1600"/>
              </a:lnSpc>
            </a:pPr>
            <a:r>
              <a:rPr sz="1200" b="0" dirty="0">
                <a:solidFill>
                  <a:srgbClr val="1A1A2E"/>
                </a:solidFill>
                <a:latin typeface="Calibri"/>
              </a:rPr>
              <a:t>Loss = L_KD + β_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s·L_AT_spatial</a:t>
            </a:r>
            <a:r>
              <a:rPr sz="1200" b="0" dirty="0">
                <a:solidFill>
                  <a:srgbClr val="1A1A2E"/>
                </a:solidFill>
                <a:latin typeface="Calibri"/>
              </a:rPr>
              <a:t> + β_</a:t>
            </a:r>
            <a:r>
              <a:rPr sz="1200" b="0" dirty="0" err="1">
                <a:solidFill>
                  <a:srgbClr val="1A1A2E"/>
                </a:solidFill>
                <a:latin typeface="Calibri"/>
              </a:rPr>
              <a:t>t·L_AT_temporal</a:t>
            </a:r>
            <a:endParaRPr sz="1200" b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A4EB07-B9E4-F9E3-3D2C-3F09E7C981CF}"/>
              </a:ext>
            </a:extLst>
          </p:cNvPr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15/23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0D8DFC1D-471D-15D0-E8E7-FBC0AEB89B04}"/>
              </a:ext>
            </a:extLst>
          </p:cNvPr>
          <p:cNvSpPr/>
          <p:nvPr/>
        </p:nvSpPr>
        <p:spPr>
          <a:xfrm>
            <a:off x="411479" y="3058191"/>
            <a:ext cx="1640399" cy="45768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8C95BB0D-515F-E171-FECA-10D67C35D93A}"/>
              </a:ext>
            </a:extLst>
          </p:cNvPr>
          <p:cNvSpPr txBox="1"/>
          <p:nvPr/>
        </p:nvSpPr>
        <p:spPr>
          <a:xfrm>
            <a:off x="440771" y="3150118"/>
            <a:ext cx="16111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EEDBEE08-196D-D72C-37B8-6C9F76BFB810}"/>
              </a:ext>
            </a:extLst>
          </p:cNvPr>
          <p:cNvSpPr/>
          <p:nvPr/>
        </p:nvSpPr>
        <p:spPr>
          <a:xfrm>
            <a:off x="2172914" y="3058191"/>
            <a:ext cx="1089329" cy="45768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BE3F6E32-EB24-EA06-6798-518FD687A7A3}"/>
              </a:ext>
            </a:extLst>
          </p:cNvPr>
          <p:cNvSpPr txBox="1"/>
          <p:nvPr/>
        </p:nvSpPr>
        <p:spPr>
          <a:xfrm>
            <a:off x="2233432" y="3150118"/>
            <a:ext cx="1028810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b="1" dirty="0">
                <a:solidFill>
                  <a:srgbClr val="FFFFFF"/>
                </a:solidFill>
                <a:latin typeface="Calibri"/>
              </a:rPr>
              <a:t>Test 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Top-1</a:t>
            </a: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8D7FEC30-0F84-D4B3-0132-901E055096B5}"/>
              </a:ext>
            </a:extLst>
          </p:cNvPr>
          <p:cNvSpPr/>
          <p:nvPr/>
        </p:nvSpPr>
        <p:spPr>
          <a:xfrm>
            <a:off x="3322761" y="3058191"/>
            <a:ext cx="1089329" cy="45768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633B895F-628C-6812-39D4-072878078E9A}"/>
              </a:ext>
            </a:extLst>
          </p:cNvPr>
          <p:cNvSpPr txBox="1"/>
          <p:nvPr/>
        </p:nvSpPr>
        <p:spPr>
          <a:xfrm>
            <a:off x="3383279" y="3150118"/>
            <a:ext cx="1028810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b="1" i="0" dirty="0">
                <a:solidFill>
                  <a:srgbClr val="FFFFFF"/>
                </a:solidFill>
                <a:latin typeface="Calibri"/>
              </a:rPr>
              <a:t>Test 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Top-5</a:t>
            </a: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D1CC4EDA-9B16-8FE2-62D5-1E3B438E2412}"/>
              </a:ext>
            </a:extLst>
          </p:cNvPr>
          <p:cNvSpPr/>
          <p:nvPr/>
        </p:nvSpPr>
        <p:spPr>
          <a:xfrm>
            <a:off x="4472608" y="3058191"/>
            <a:ext cx="1452438" cy="45768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380E90A0-7BD2-E4C8-EB08-F892376FA736}"/>
              </a:ext>
            </a:extLst>
          </p:cNvPr>
          <p:cNvSpPr txBox="1"/>
          <p:nvPr/>
        </p:nvSpPr>
        <p:spPr>
          <a:xfrm>
            <a:off x="4533126" y="3150118"/>
            <a:ext cx="1391920" cy="45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Δ Baseline</a:t>
            </a: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225F05F0-E79E-DD4E-4BB4-44300A993279}"/>
              </a:ext>
            </a:extLst>
          </p:cNvPr>
          <p:cNvSpPr/>
          <p:nvPr/>
        </p:nvSpPr>
        <p:spPr>
          <a:xfrm>
            <a:off x="411479" y="3515879"/>
            <a:ext cx="164039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1F9B917D-5971-394A-2CD8-47279931CEDD}"/>
              </a:ext>
            </a:extLst>
          </p:cNvPr>
          <p:cNvSpPr txBox="1"/>
          <p:nvPr/>
        </p:nvSpPr>
        <p:spPr>
          <a:xfrm>
            <a:off x="440771" y="3607806"/>
            <a:ext cx="16111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Baselin</a:t>
            </a:r>
            <a:r>
              <a:rPr lang="en-US" sz="1200" b="0" i="0" dirty="0">
                <a:solidFill>
                  <a:srgbClr val="1A1A2E"/>
                </a:solidFill>
                <a:latin typeface="Calibri"/>
              </a:rPr>
              <a:t>e</a:t>
            </a:r>
            <a:endParaRPr sz="12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CD0EED53-2090-EC3D-FB46-2E7A18355C6B}"/>
              </a:ext>
            </a:extLst>
          </p:cNvPr>
          <p:cNvSpPr/>
          <p:nvPr/>
        </p:nvSpPr>
        <p:spPr>
          <a:xfrm>
            <a:off x="2172914" y="3515879"/>
            <a:ext cx="108932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11332C83-3E83-8227-1A4C-F589A877BB36}"/>
              </a:ext>
            </a:extLst>
          </p:cNvPr>
          <p:cNvSpPr txBox="1"/>
          <p:nvPr/>
        </p:nvSpPr>
        <p:spPr>
          <a:xfrm>
            <a:off x="2233432" y="3607806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A1A2E"/>
                </a:solidFill>
                <a:latin typeface="Calibri"/>
              </a:rPr>
              <a:t>59.48%</a:t>
            </a: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90C2055B-51B1-C2DF-1452-F58EB119F103}"/>
              </a:ext>
            </a:extLst>
          </p:cNvPr>
          <p:cNvSpPr/>
          <p:nvPr/>
        </p:nvSpPr>
        <p:spPr>
          <a:xfrm>
            <a:off x="3322761" y="3515879"/>
            <a:ext cx="108932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26">
            <a:extLst>
              <a:ext uri="{FF2B5EF4-FFF2-40B4-BE49-F238E27FC236}">
                <a16:creationId xmlns:a16="http://schemas.microsoft.com/office/drawing/2014/main" id="{0140F6C2-2B73-6EAA-45F4-5ECBD5A2C39C}"/>
              </a:ext>
            </a:extLst>
          </p:cNvPr>
          <p:cNvSpPr txBox="1"/>
          <p:nvPr/>
        </p:nvSpPr>
        <p:spPr>
          <a:xfrm>
            <a:off x="3383279" y="3607806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82.77%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6222E2FD-40A1-9353-237C-4F4F468DF911}"/>
              </a:ext>
            </a:extLst>
          </p:cNvPr>
          <p:cNvSpPr/>
          <p:nvPr/>
        </p:nvSpPr>
        <p:spPr>
          <a:xfrm>
            <a:off x="4472608" y="3515879"/>
            <a:ext cx="1452438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319B014A-8DFA-D1C1-0605-DF0C886F9095}"/>
              </a:ext>
            </a:extLst>
          </p:cNvPr>
          <p:cNvSpPr txBox="1"/>
          <p:nvPr/>
        </p:nvSpPr>
        <p:spPr>
          <a:xfrm>
            <a:off x="4533126" y="3607806"/>
            <a:ext cx="139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91B6B00E-5FF2-30A8-47BA-E602058AA85A}"/>
              </a:ext>
            </a:extLst>
          </p:cNvPr>
          <p:cNvSpPr/>
          <p:nvPr/>
        </p:nvSpPr>
        <p:spPr>
          <a:xfrm>
            <a:off x="411479" y="3973567"/>
            <a:ext cx="1640399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30">
            <a:extLst>
              <a:ext uri="{FF2B5EF4-FFF2-40B4-BE49-F238E27FC236}">
                <a16:creationId xmlns:a16="http://schemas.microsoft.com/office/drawing/2014/main" id="{84EEA481-F5D1-C793-88A5-97C62800D464}"/>
              </a:ext>
            </a:extLst>
          </p:cNvPr>
          <p:cNvSpPr txBox="1"/>
          <p:nvPr/>
        </p:nvSpPr>
        <p:spPr>
          <a:xfrm>
            <a:off x="440771" y="4044969"/>
            <a:ext cx="16111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KD T=1,  α=0.7</a:t>
            </a: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D480F9CB-73AB-18E6-D23C-79FEA61E887A}"/>
              </a:ext>
            </a:extLst>
          </p:cNvPr>
          <p:cNvSpPr/>
          <p:nvPr/>
        </p:nvSpPr>
        <p:spPr>
          <a:xfrm>
            <a:off x="2172914" y="3973567"/>
            <a:ext cx="1089329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32">
            <a:extLst>
              <a:ext uri="{FF2B5EF4-FFF2-40B4-BE49-F238E27FC236}">
                <a16:creationId xmlns:a16="http://schemas.microsoft.com/office/drawing/2014/main" id="{E6695ED0-1C2C-909E-83A9-A606F2285CC8}"/>
              </a:ext>
            </a:extLst>
          </p:cNvPr>
          <p:cNvSpPr txBox="1"/>
          <p:nvPr/>
        </p:nvSpPr>
        <p:spPr>
          <a:xfrm>
            <a:off x="2233432" y="4065494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64.31%</a:t>
            </a:r>
          </a:p>
        </p:txBody>
      </p:sp>
      <p:sp>
        <p:nvSpPr>
          <p:cNvPr id="44" name="Rectangle 33">
            <a:extLst>
              <a:ext uri="{FF2B5EF4-FFF2-40B4-BE49-F238E27FC236}">
                <a16:creationId xmlns:a16="http://schemas.microsoft.com/office/drawing/2014/main" id="{4BBFD6E8-FFAD-03A4-DCD1-4AD770F93354}"/>
              </a:ext>
            </a:extLst>
          </p:cNvPr>
          <p:cNvSpPr/>
          <p:nvPr/>
        </p:nvSpPr>
        <p:spPr>
          <a:xfrm>
            <a:off x="3322761" y="3973567"/>
            <a:ext cx="1089329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34">
            <a:extLst>
              <a:ext uri="{FF2B5EF4-FFF2-40B4-BE49-F238E27FC236}">
                <a16:creationId xmlns:a16="http://schemas.microsoft.com/office/drawing/2014/main" id="{DC9C8586-FDAA-D5FE-F31D-706A164856B7}"/>
              </a:ext>
            </a:extLst>
          </p:cNvPr>
          <p:cNvSpPr txBox="1"/>
          <p:nvPr/>
        </p:nvSpPr>
        <p:spPr>
          <a:xfrm>
            <a:off x="3383279" y="4065494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85.56%</a:t>
            </a: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BE7B2ACD-140C-2BCC-7742-0959EFE59001}"/>
              </a:ext>
            </a:extLst>
          </p:cNvPr>
          <p:cNvSpPr/>
          <p:nvPr/>
        </p:nvSpPr>
        <p:spPr>
          <a:xfrm>
            <a:off x="4472608" y="3973567"/>
            <a:ext cx="1452438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36">
            <a:extLst>
              <a:ext uri="{FF2B5EF4-FFF2-40B4-BE49-F238E27FC236}">
                <a16:creationId xmlns:a16="http://schemas.microsoft.com/office/drawing/2014/main" id="{4FCE107F-4025-811B-00ED-EB4F6AED420D}"/>
              </a:ext>
            </a:extLst>
          </p:cNvPr>
          <p:cNvSpPr txBox="1"/>
          <p:nvPr/>
        </p:nvSpPr>
        <p:spPr>
          <a:xfrm>
            <a:off x="4533126" y="4065494"/>
            <a:ext cx="139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+4.83 pp</a:t>
            </a:r>
          </a:p>
        </p:txBody>
      </p:sp>
      <p:sp>
        <p:nvSpPr>
          <p:cNvPr id="48" name="Rectangle 37">
            <a:extLst>
              <a:ext uri="{FF2B5EF4-FFF2-40B4-BE49-F238E27FC236}">
                <a16:creationId xmlns:a16="http://schemas.microsoft.com/office/drawing/2014/main" id="{6961A406-2D8F-76F4-0D4E-45801ECB2291}"/>
              </a:ext>
            </a:extLst>
          </p:cNvPr>
          <p:cNvSpPr/>
          <p:nvPr/>
        </p:nvSpPr>
        <p:spPr>
          <a:xfrm>
            <a:off x="411479" y="4431254"/>
            <a:ext cx="164039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38">
            <a:extLst>
              <a:ext uri="{FF2B5EF4-FFF2-40B4-BE49-F238E27FC236}">
                <a16:creationId xmlns:a16="http://schemas.microsoft.com/office/drawing/2014/main" id="{F5564C01-0268-45D1-9425-DAB99FA214ED}"/>
              </a:ext>
            </a:extLst>
          </p:cNvPr>
          <p:cNvSpPr txBox="1"/>
          <p:nvPr/>
        </p:nvSpPr>
        <p:spPr>
          <a:xfrm>
            <a:off x="440771" y="4523181"/>
            <a:ext cx="16111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KD T=5,  α=0.7</a:t>
            </a:r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0C433357-9D9E-101F-5E92-17109E58984A}"/>
              </a:ext>
            </a:extLst>
          </p:cNvPr>
          <p:cNvSpPr/>
          <p:nvPr/>
        </p:nvSpPr>
        <p:spPr>
          <a:xfrm>
            <a:off x="2172914" y="4431254"/>
            <a:ext cx="108932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9EA10A5A-A79C-623E-A3C2-4ACE5FB77FD4}"/>
              </a:ext>
            </a:extLst>
          </p:cNvPr>
          <p:cNvSpPr txBox="1"/>
          <p:nvPr/>
        </p:nvSpPr>
        <p:spPr>
          <a:xfrm>
            <a:off x="2233432" y="4523181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62.91%</a:t>
            </a:r>
          </a:p>
        </p:txBody>
      </p:sp>
      <p:sp>
        <p:nvSpPr>
          <p:cNvPr id="52" name="Rectangle 41">
            <a:extLst>
              <a:ext uri="{FF2B5EF4-FFF2-40B4-BE49-F238E27FC236}">
                <a16:creationId xmlns:a16="http://schemas.microsoft.com/office/drawing/2014/main" id="{EDA6039D-6E99-B633-B18C-FE901B34FF6E}"/>
              </a:ext>
            </a:extLst>
          </p:cNvPr>
          <p:cNvSpPr/>
          <p:nvPr/>
        </p:nvSpPr>
        <p:spPr>
          <a:xfrm>
            <a:off x="3322761" y="4431254"/>
            <a:ext cx="108932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42">
            <a:extLst>
              <a:ext uri="{FF2B5EF4-FFF2-40B4-BE49-F238E27FC236}">
                <a16:creationId xmlns:a16="http://schemas.microsoft.com/office/drawing/2014/main" id="{EB5D7AE2-963C-822B-D1F3-EC5FDB9A5C6A}"/>
              </a:ext>
            </a:extLst>
          </p:cNvPr>
          <p:cNvSpPr txBox="1"/>
          <p:nvPr/>
        </p:nvSpPr>
        <p:spPr>
          <a:xfrm>
            <a:off x="3383279" y="4523181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85.65%</a:t>
            </a:r>
          </a:p>
        </p:txBody>
      </p:sp>
      <p:sp>
        <p:nvSpPr>
          <p:cNvPr id="54" name="Rectangle 43">
            <a:extLst>
              <a:ext uri="{FF2B5EF4-FFF2-40B4-BE49-F238E27FC236}">
                <a16:creationId xmlns:a16="http://schemas.microsoft.com/office/drawing/2014/main" id="{A87C2160-C4F7-769C-A9E4-A92A906C8B98}"/>
              </a:ext>
            </a:extLst>
          </p:cNvPr>
          <p:cNvSpPr/>
          <p:nvPr/>
        </p:nvSpPr>
        <p:spPr>
          <a:xfrm>
            <a:off x="4472608" y="4431254"/>
            <a:ext cx="1452438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44">
            <a:extLst>
              <a:ext uri="{FF2B5EF4-FFF2-40B4-BE49-F238E27FC236}">
                <a16:creationId xmlns:a16="http://schemas.microsoft.com/office/drawing/2014/main" id="{AB560A25-4427-FE8D-0F74-130DC641414B}"/>
              </a:ext>
            </a:extLst>
          </p:cNvPr>
          <p:cNvSpPr txBox="1"/>
          <p:nvPr/>
        </p:nvSpPr>
        <p:spPr>
          <a:xfrm>
            <a:off x="4533126" y="4523181"/>
            <a:ext cx="139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A1A2E"/>
                </a:solidFill>
                <a:latin typeface="Calibri"/>
              </a:rPr>
              <a:t>+3.43 pp</a:t>
            </a:r>
          </a:p>
        </p:txBody>
      </p:sp>
      <p:sp>
        <p:nvSpPr>
          <p:cNvPr id="72" name="Rectangle 61">
            <a:extLst>
              <a:ext uri="{FF2B5EF4-FFF2-40B4-BE49-F238E27FC236}">
                <a16:creationId xmlns:a16="http://schemas.microsoft.com/office/drawing/2014/main" id="{D41D0610-E0CA-602A-4660-04BC2FADCF9B}"/>
              </a:ext>
            </a:extLst>
          </p:cNvPr>
          <p:cNvSpPr/>
          <p:nvPr/>
        </p:nvSpPr>
        <p:spPr>
          <a:xfrm>
            <a:off x="411479" y="4895075"/>
            <a:ext cx="1640399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62">
            <a:extLst>
              <a:ext uri="{FF2B5EF4-FFF2-40B4-BE49-F238E27FC236}">
                <a16:creationId xmlns:a16="http://schemas.microsoft.com/office/drawing/2014/main" id="{D0A307AD-F6EA-91AC-1359-3F8D0FCB66C2}"/>
              </a:ext>
            </a:extLst>
          </p:cNvPr>
          <p:cNvSpPr txBox="1"/>
          <p:nvPr/>
        </p:nvSpPr>
        <p:spPr>
          <a:xfrm>
            <a:off x="440771" y="4980869"/>
            <a:ext cx="16111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KD T=20, α=0.7  ★</a:t>
            </a:r>
          </a:p>
        </p:txBody>
      </p:sp>
      <p:sp>
        <p:nvSpPr>
          <p:cNvPr id="74" name="Rectangle 63">
            <a:extLst>
              <a:ext uri="{FF2B5EF4-FFF2-40B4-BE49-F238E27FC236}">
                <a16:creationId xmlns:a16="http://schemas.microsoft.com/office/drawing/2014/main" id="{25F02C16-BD40-7C4C-AADC-8C3EAA0AD088}"/>
              </a:ext>
            </a:extLst>
          </p:cNvPr>
          <p:cNvSpPr/>
          <p:nvPr/>
        </p:nvSpPr>
        <p:spPr>
          <a:xfrm>
            <a:off x="2172914" y="4888942"/>
            <a:ext cx="1089329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64">
            <a:extLst>
              <a:ext uri="{FF2B5EF4-FFF2-40B4-BE49-F238E27FC236}">
                <a16:creationId xmlns:a16="http://schemas.microsoft.com/office/drawing/2014/main" id="{44DF41FE-DB59-7DD8-7E4B-C1E45AFE2390}"/>
              </a:ext>
            </a:extLst>
          </p:cNvPr>
          <p:cNvSpPr txBox="1"/>
          <p:nvPr/>
        </p:nvSpPr>
        <p:spPr>
          <a:xfrm>
            <a:off x="2233432" y="4987002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E54800"/>
                </a:solidFill>
                <a:latin typeface="Calibri"/>
              </a:rPr>
              <a:t>65.85%</a:t>
            </a:r>
          </a:p>
        </p:txBody>
      </p:sp>
      <p:sp>
        <p:nvSpPr>
          <p:cNvPr id="76" name="Rectangle 65">
            <a:extLst>
              <a:ext uri="{FF2B5EF4-FFF2-40B4-BE49-F238E27FC236}">
                <a16:creationId xmlns:a16="http://schemas.microsoft.com/office/drawing/2014/main" id="{8F3C5208-0D6A-1D9F-527D-65EBB84415AB}"/>
              </a:ext>
            </a:extLst>
          </p:cNvPr>
          <p:cNvSpPr/>
          <p:nvPr/>
        </p:nvSpPr>
        <p:spPr>
          <a:xfrm>
            <a:off x="3322761" y="4888942"/>
            <a:ext cx="1089329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66">
            <a:extLst>
              <a:ext uri="{FF2B5EF4-FFF2-40B4-BE49-F238E27FC236}">
                <a16:creationId xmlns:a16="http://schemas.microsoft.com/office/drawing/2014/main" id="{EC7CA1E9-93CC-97FE-712D-85F8B54FF5F9}"/>
              </a:ext>
            </a:extLst>
          </p:cNvPr>
          <p:cNvSpPr txBox="1"/>
          <p:nvPr/>
        </p:nvSpPr>
        <p:spPr>
          <a:xfrm>
            <a:off x="3383279" y="4987002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4800"/>
                </a:solidFill>
                <a:latin typeface="Calibri"/>
              </a:rPr>
              <a:t>89.24%</a:t>
            </a:r>
          </a:p>
        </p:txBody>
      </p:sp>
      <p:sp>
        <p:nvSpPr>
          <p:cNvPr id="78" name="Rectangle 67">
            <a:extLst>
              <a:ext uri="{FF2B5EF4-FFF2-40B4-BE49-F238E27FC236}">
                <a16:creationId xmlns:a16="http://schemas.microsoft.com/office/drawing/2014/main" id="{A6F8C4E9-FB3E-CA7D-3EC4-F43F38DBB2BC}"/>
              </a:ext>
            </a:extLst>
          </p:cNvPr>
          <p:cNvSpPr/>
          <p:nvPr/>
        </p:nvSpPr>
        <p:spPr>
          <a:xfrm>
            <a:off x="4472608" y="4888942"/>
            <a:ext cx="1452438" cy="45768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68">
            <a:extLst>
              <a:ext uri="{FF2B5EF4-FFF2-40B4-BE49-F238E27FC236}">
                <a16:creationId xmlns:a16="http://schemas.microsoft.com/office/drawing/2014/main" id="{81F623C1-25A5-D15D-B5AE-5DAF03C0B6C8}"/>
              </a:ext>
            </a:extLst>
          </p:cNvPr>
          <p:cNvSpPr txBox="1"/>
          <p:nvPr/>
        </p:nvSpPr>
        <p:spPr>
          <a:xfrm>
            <a:off x="4533126" y="4980869"/>
            <a:ext cx="139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4800"/>
                </a:solidFill>
                <a:latin typeface="Calibri"/>
              </a:rPr>
              <a:t>+6.37 pp</a:t>
            </a:r>
          </a:p>
        </p:txBody>
      </p:sp>
      <p:sp>
        <p:nvSpPr>
          <p:cNvPr id="80" name="Rectangle 69">
            <a:extLst>
              <a:ext uri="{FF2B5EF4-FFF2-40B4-BE49-F238E27FC236}">
                <a16:creationId xmlns:a16="http://schemas.microsoft.com/office/drawing/2014/main" id="{AFFDAB5A-DA3A-B88D-86CF-A00349CF81BA}"/>
              </a:ext>
            </a:extLst>
          </p:cNvPr>
          <p:cNvSpPr/>
          <p:nvPr/>
        </p:nvSpPr>
        <p:spPr>
          <a:xfrm>
            <a:off x="411479" y="5346630"/>
            <a:ext cx="164039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70">
            <a:extLst>
              <a:ext uri="{FF2B5EF4-FFF2-40B4-BE49-F238E27FC236}">
                <a16:creationId xmlns:a16="http://schemas.microsoft.com/office/drawing/2014/main" id="{EAD91B77-D953-5D00-1C32-39576B295E18}"/>
              </a:ext>
            </a:extLst>
          </p:cNvPr>
          <p:cNvSpPr txBox="1"/>
          <p:nvPr/>
        </p:nvSpPr>
        <p:spPr>
          <a:xfrm>
            <a:off x="440771" y="5438556"/>
            <a:ext cx="16111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Teacher (ResNet-50)</a:t>
            </a:r>
          </a:p>
        </p:txBody>
      </p:sp>
      <p:sp>
        <p:nvSpPr>
          <p:cNvPr id="82" name="Rectangle 71">
            <a:extLst>
              <a:ext uri="{FF2B5EF4-FFF2-40B4-BE49-F238E27FC236}">
                <a16:creationId xmlns:a16="http://schemas.microsoft.com/office/drawing/2014/main" id="{D1D0E7D8-5457-89BF-E26B-C539E173EEC4}"/>
              </a:ext>
            </a:extLst>
          </p:cNvPr>
          <p:cNvSpPr/>
          <p:nvPr/>
        </p:nvSpPr>
        <p:spPr>
          <a:xfrm>
            <a:off x="2172914" y="5346630"/>
            <a:ext cx="108932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72">
            <a:extLst>
              <a:ext uri="{FF2B5EF4-FFF2-40B4-BE49-F238E27FC236}">
                <a16:creationId xmlns:a16="http://schemas.microsoft.com/office/drawing/2014/main" id="{1E2676B6-8B2F-F942-AE04-79C41E96DE8A}"/>
              </a:ext>
            </a:extLst>
          </p:cNvPr>
          <p:cNvSpPr txBox="1"/>
          <p:nvPr/>
        </p:nvSpPr>
        <p:spPr>
          <a:xfrm>
            <a:off x="2233432" y="5438556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A1A2E"/>
                </a:solidFill>
                <a:latin typeface="Calibri"/>
              </a:rPr>
              <a:t>88.82%</a:t>
            </a:r>
          </a:p>
        </p:txBody>
      </p:sp>
      <p:sp>
        <p:nvSpPr>
          <p:cNvPr id="84" name="Rectangle 73">
            <a:extLst>
              <a:ext uri="{FF2B5EF4-FFF2-40B4-BE49-F238E27FC236}">
                <a16:creationId xmlns:a16="http://schemas.microsoft.com/office/drawing/2014/main" id="{67D93802-3744-7CAF-F3C1-E2B241F3E50B}"/>
              </a:ext>
            </a:extLst>
          </p:cNvPr>
          <p:cNvSpPr/>
          <p:nvPr/>
        </p:nvSpPr>
        <p:spPr>
          <a:xfrm>
            <a:off x="3322761" y="5346630"/>
            <a:ext cx="1089329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74">
            <a:extLst>
              <a:ext uri="{FF2B5EF4-FFF2-40B4-BE49-F238E27FC236}">
                <a16:creationId xmlns:a16="http://schemas.microsoft.com/office/drawing/2014/main" id="{E642C307-CB5D-6358-D389-ADE98B4DDCB3}"/>
              </a:ext>
            </a:extLst>
          </p:cNvPr>
          <p:cNvSpPr txBox="1"/>
          <p:nvPr/>
        </p:nvSpPr>
        <p:spPr>
          <a:xfrm>
            <a:off x="3383279" y="5438556"/>
            <a:ext cx="1028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98.18%</a:t>
            </a:r>
          </a:p>
        </p:txBody>
      </p:sp>
      <p:sp>
        <p:nvSpPr>
          <p:cNvPr id="86" name="Rectangle 75">
            <a:extLst>
              <a:ext uri="{FF2B5EF4-FFF2-40B4-BE49-F238E27FC236}">
                <a16:creationId xmlns:a16="http://schemas.microsoft.com/office/drawing/2014/main" id="{D2A0FF22-6AFB-0B43-C084-ECB344306BE5}"/>
              </a:ext>
            </a:extLst>
          </p:cNvPr>
          <p:cNvSpPr/>
          <p:nvPr/>
        </p:nvSpPr>
        <p:spPr>
          <a:xfrm>
            <a:off x="4472608" y="5346630"/>
            <a:ext cx="1452438" cy="457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76">
            <a:extLst>
              <a:ext uri="{FF2B5EF4-FFF2-40B4-BE49-F238E27FC236}">
                <a16:creationId xmlns:a16="http://schemas.microsoft.com/office/drawing/2014/main" id="{0E2CF186-C9D1-C3F7-8EA8-BF2BADA15B01}"/>
              </a:ext>
            </a:extLst>
          </p:cNvPr>
          <p:cNvSpPr txBox="1"/>
          <p:nvPr/>
        </p:nvSpPr>
        <p:spPr>
          <a:xfrm>
            <a:off x="4533126" y="5438556"/>
            <a:ext cx="139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99" name="Rectangle 10">
            <a:extLst>
              <a:ext uri="{FF2B5EF4-FFF2-40B4-BE49-F238E27FC236}">
                <a16:creationId xmlns:a16="http://schemas.microsoft.com/office/drawing/2014/main" id="{C27CF21A-8530-A36F-EDD4-38DDAD5A8CE4}"/>
              </a:ext>
            </a:extLst>
          </p:cNvPr>
          <p:cNvSpPr/>
          <p:nvPr/>
        </p:nvSpPr>
        <p:spPr>
          <a:xfrm>
            <a:off x="6263780" y="1677924"/>
            <a:ext cx="5513692" cy="4126394"/>
          </a:xfrm>
          <a:prstGeom prst="rect">
            <a:avLst/>
          </a:prstGeom>
          <a:solidFill>
            <a:srgbClr val="FFFFFF"/>
          </a:solidFill>
          <a:ln w="19050">
            <a:solidFill>
              <a:srgbClr val="0F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54">
            <a:extLst>
              <a:ext uri="{FF2B5EF4-FFF2-40B4-BE49-F238E27FC236}">
                <a16:creationId xmlns:a16="http://schemas.microsoft.com/office/drawing/2014/main" id="{BF95F617-6D75-2F8E-1798-B501D7B50991}"/>
              </a:ext>
            </a:extLst>
          </p:cNvPr>
          <p:cNvSpPr txBox="1"/>
          <p:nvPr/>
        </p:nvSpPr>
        <p:spPr>
          <a:xfrm>
            <a:off x="6457594" y="1883200"/>
            <a:ext cx="4920548" cy="849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Spatial AT: </a:t>
            </a:r>
            <a:r>
              <a:rPr sz="1050" b="0" dirty="0" err="1">
                <a:solidFill>
                  <a:srgbClr val="1A1A2E"/>
                </a:solidFill>
                <a:latin typeface="Calibri"/>
              </a:rPr>
              <a:t>depthwise</a:t>
            </a:r>
            <a:r>
              <a:rPr sz="1050" b="0" dirty="0">
                <a:solidFill>
                  <a:srgbClr val="1A1A2E"/>
                </a:solidFill>
                <a:latin typeface="Calibri"/>
              </a:rPr>
              <a:t> ↔ standard conv gap limits alignment quality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Interpolation artifacts degrade spatial AT signal → acts as noise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Temporal-only AT avoids spatial distortion → best AT variant</a:t>
            </a:r>
          </a:p>
          <a:p>
            <a:pPr algn="l">
              <a:lnSpc>
                <a:spcPts val="1500"/>
              </a:lnSpc>
            </a:pPr>
            <a:r>
              <a:rPr sz="1050" b="0" dirty="0">
                <a:solidFill>
                  <a:srgbClr val="1A1A2E"/>
                </a:solidFill>
                <a:latin typeface="Calibri"/>
              </a:rPr>
              <a:t>• Pure KD T=20 (65.85%) outperforms all AT variants by a large margin</a:t>
            </a:r>
          </a:p>
        </p:txBody>
      </p:sp>
    </p:spTree>
    <p:extLst>
      <p:ext uri="{BB962C8B-B14F-4D97-AF65-F5344CB8AC3E}">
        <p14:creationId xmlns:p14="http://schemas.microsoft.com/office/powerpoint/2010/main" val="270199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ADVANCED METHODS — BORN-AGAIN SELF-DISTILLATION (slurm-born-again-4529)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Born-Again Self-Distillation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Iterative MobileNet3D → MobileNet3D self-distillation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0E09C59F-0A99-F002-E01E-5BB81C2BB893}"/>
              </a:ext>
            </a:extLst>
          </p:cNvPr>
          <p:cNvGrpSpPr/>
          <p:nvPr/>
        </p:nvGrpSpPr>
        <p:grpSpPr>
          <a:xfrm>
            <a:off x="411480" y="4385542"/>
            <a:ext cx="4915894" cy="1740937"/>
            <a:chOff x="301625" y="3189964"/>
            <a:chExt cx="4915894" cy="1740937"/>
          </a:xfrm>
        </p:grpSpPr>
        <p:sp>
          <p:nvSpPr>
            <p:cNvPr id="30" name="Rectangle 12">
              <a:extLst>
                <a:ext uri="{FF2B5EF4-FFF2-40B4-BE49-F238E27FC236}">
                  <a16:creationId xmlns:a16="http://schemas.microsoft.com/office/drawing/2014/main" id="{B6D294EC-EAA2-765A-4239-A05F24CE6382}"/>
                </a:ext>
              </a:extLst>
            </p:cNvPr>
            <p:cNvSpPr/>
            <p:nvPr/>
          </p:nvSpPr>
          <p:spPr>
            <a:xfrm>
              <a:off x="301625" y="3189964"/>
              <a:ext cx="4915894" cy="174093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F3D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1480" y="3264503"/>
              <a:ext cx="179500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 dirty="0">
                  <a:solidFill>
                    <a:srgbClr val="E54800"/>
                  </a:solidFill>
                  <a:latin typeface="Calibri"/>
                </a:rPr>
                <a:t>Generational Collapse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" y="3580616"/>
              <a:ext cx="4750776" cy="1239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sz="1050" b="1" dirty="0">
                  <a:solidFill>
                    <a:srgbClr val="1A1A2E"/>
                  </a:solidFill>
                  <a:latin typeface="Calibri"/>
                </a:rPr>
                <a:t>Gen 0 → Gen 1: </a:t>
              </a:r>
              <a:r>
                <a:rPr sz="1050" b="1" dirty="0">
                  <a:solidFill>
                    <a:srgbClr val="FF0000"/>
                  </a:solidFill>
                  <a:latin typeface="Calibri"/>
                </a:rPr>
                <a:t>−3.88 pp</a:t>
              </a:r>
            </a:p>
            <a:p>
              <a:pPr algn="l">
                <a:lnSpc>
                  <a:spcPts val="1500"/>
                </a:lnSpc>
              </a:pPr>
              <a:r>
                <a:rPr sz="1050" b="1" dirty="0">
                  <a:solidFill>
                    <a:srgbClr val="1A1A2E"/>
                  </a:solidFill>
                  <a:latin typeface="Calibri"/>
                </a:rPr>
                <a:t>Gen 1 → Gen 2: </a:t>
              </a:r>
              <a:r>
                <a:rPr sz="1050" b="1" dirty="0">
                  <a:solidFill>
                    <a:srgbClr val="00B050"/>
                  </a:solidFill>
                  <a:latin typeface="Calibri"/>
                </a:rPr>
                <a:t>+0.55 p</a:t>
              </a:r>
              <a:r>
                <a:rPr lang="it-IT" sz="1050" b="1" dirty="0">
                  <a:solidFill>
                    <a:srgbClr val="00B050"/>
                  </a:solidFill>
                  <a:latin typeface="Calibri"/>
                </a:rPr>
                <a:t>p</a:t>
              </a:r>
              <a:endParaRPr sz="1050" b="1" dirty="0">
                <a:solidFill>
                  <a:srgbClr val="00B050"/>
                </a:solidFill>
                <a:latin typeface="Calibri"/>
              </a:endParaRPr>
            </a:p>
            <a:p>
              <a:pPr algn="l">
                <a:lnSpc>
                  <a:spcPts val="1500"/>
                </a:lnSpc>
              </a:pPr>
              <a:r>
                <a:rPr sz="1050" b="1" dirty="0">
                  <a:solidFill>
                    <a:srgbClr val="1A1A2E"/>
                  </a:solidFill>
                  <a:latin typeface="Calibri"/>
                </a:rPr>
                <a:t>Gen 2 → Gen 3: </a:t>
              </a:r>
              <a:r>
                <a:rPr sz="1050" b="1" dirty="0">
                  <a:solidFill>
                    <a:srgbClr val="FF0000"/>
                  </a:solidFill>
                  <a:latin typeface="Calibri"/>
                </a:rPr>
                <a:t> −1.77 pp</a:t>
              </a:r>
              <a:endParaRPr lang="en-US" sz="1050" b="1" dirty="0">
                <a:solidFill>
                  <a:srgbClr val="FF0000"/>
                </a:solidFill>
                <a:latin typeface="Calibri"/>
              </a:endParaRPr>
            </a:p>
            <a:p>
              <a:pPr algn="l">
                <a:lnSpc>
                  <a:spcPts val="1500"/>
                </a:lnSpc>
              </a:pPr>
              <a:endParaRPr sz="1050" b="0" dirty="0">
                <a:solidFill>
                  <a:srgbClr val="1A1A2E"/>
                </a:solidFill>
                <a:latin typeface="Calibri"/>
              </a:endParaRPr>
            </a:p>
            <a:p>
              <a:pPr algn="l">
                <a:lnSpc>
                  <a:spcPts val="1500"/>
                </a:lnSpc>
              </a:pPr>
              <a:r>
                <a:rPr sz="1200" b="0" dirty="0">
                  <a:solidFill>
                    <a:srgbClr val="1A1A2E"/>
                  </a:solidFill>
                  <a:latin typeface="Calibri"/>
                </a:rPr>
                <a:t>Even with identical architecture (no interpolation),</a:t>
              </a:r>
              <a:r>
                <a:rPr lang="en-US" sz="1200" b="0" dirty="0">
                  <a:solidFill>
                    <a:srgbClr val="1A1A2E"/>
                  </a:solidFill>
                  <a:latin typeface="Calibri"/>
                </a:rPr>
                <a:t> </a:t>
              </a:r>
            </a:p>
            <a:p>
              <a:pPr algn="l">
                <a:lnSpc>
                  <a:spcPts val="1500"/>
                </a:lnSpc>
              </a:pPr>
              <a:r>
                <a:rPr lang="en-US" sz="1200" b="0" dirty="0">
                  <a:solidFill>
                    <a:srgbClr val="1A1A2E"/>
                  </a:solidFill>
                  <a:latin typeface="Calibri"/>
                </a:rPr>
                <a:t>the noisy soft targets from a ~65% teacher corrupt successive generations</a:t>
              </a:r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13B2B14B-6536-E667-1CAC-BF41E65712AD}"/>
              </a:ext>
            </a:extLst>
          </p:cNvPr>
          <p:cNvGrpSpPr/>
          <p:nvPr/>
        </p:nvGrpSpPr>
        <p:grpSpPr>
          <a:xfrm>
            <a:off x="6418870" y="1755648"/>
            <a:ext cx="4587034" cy="4604274"/>
            <a:chOff x="6108192" y="2111561"/>
            <a:chExt cx="5779008" cy="3530960"/>
          </a:xfrm>
        </p:grpSpPr>
        <p:sp>
          <p:nvSpPr>
            <p:cNvPr id="11" name="TextBox 10"/>
            <p:cNvSpPr txBox="1"/>
            <p:nvPr/>
          </p:nvSpPr>
          <p:spPr>
            <a:xfrm>
              <a:off x="6108192" y="2111561"/>
              <a:ext cx="566928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 dirty="0">
                  <a:solidFill>
                    <a:srgbClr val="0F3D91"/>
                  </a:solidFill>
                  <a:latin typeface="Calibri"/>
                </a:rPr>
                <a:t>Accuracy Across Generations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17920" y="2854616"/>
              <a:ext cx="822960" cy="2357463"/>
            </a:xfrm>
            <a:prstGeom prst="rect">
              <a:avLst/>
            </a:prstGeom>
            <a:solidFill>
              <a:srgbClr val="0F3D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2580296"/>
              <a:ext cx="8229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i="0">
                  <a:solidFill>
                    <a:srgbClr val="0F3D91"/>
                  </a:solidFill>
                  <a:latin typeface="Calibri"/>
                </a:rPr>
                <a:t>64.31%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17920" y="5257800"/>
              <a:ext cx="822960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 i="0">
                  <a:solidFill>
                    <a:srgbClr val="555555"/>
                  </a:solidFill>
                  <a:latin typeface="Calibri"/>
                </a:rPr>
                <a:t>Gen 0
(Start)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315200" y="3837103"/>
              <a:ext cx="822960" cy="13749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15199" y="3562783"/>
              <a:ext cx="822960" cy="194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i="0" dirty="0">
                  <a:solidFill>
                    <a:schemeClr val="accent6"/>
                  </a:solidFill>
                  <a:latin typeface="Calibri"/>
                </a:rPr>
                <a:t>60.43%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15200" y="5257800"/>
              <a:ext cx="822960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 i="0">
                  <a:solidFill>
                    <a:srgbClr val="555555"/>
                  </a:solidFill>
                  <a:latin typeface="Calibri"/>
                </a:rPr>
                <a:t>Gen 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412480" y="3697833"/>
              <a:ext cx="822960" cy="151424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12480" y="3423513"/>
              <a:ext cx="822960" cy="194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i="0" dirty="0">
                  <a:solidFill>
                    <a:srgbClr val="0070C0"/>
                  </a:solidFill>
                  <a:latin typeface="Calibri"/>
                </a:rPr>
                <a:t>60.98%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12480" y="5257800"/>
              <a:ext cx="822960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 i="0">
                  <a:solidFill>
                    <a:srgbClr val="555555"/>
                  </a:solidFill>
                  <a:latin typeface="Calibri"/>
                </a:rPr>
                <a:t>Gen 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509760" y="4146030"/>
              <a:ext cx="822960" cy="10660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09760" y="3871710"/>
              <a:ext cx="822960" cy="194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i="0" dirty="0">
                  <a:solidFill>
                    <a:srgbClr val="FFC000"/>
                  </a:solidFill>
                  <a:latin typeface="Calibri"/>
                </a:rPr>
                <a:t>59.21%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509760" y="5257800"/>
              <a:ext cx="822960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 i="0">
                  <a:solidFill>
                    <a:srgbClr val="555555"/>
                  </a:solidFill>
                  <a:latin typeface="Calibri"/>
                </a:rPr>
                <a:t>Gen 3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607040" y="4077661"/>
              <a:ext cx="822960" cy="1134418"/>
            </a:xfrm>
            <a:prstGeom prst="rect">
              <a:avLst/>
            </a:prstGeom>
            <a:solidFill>
              <a:srgbClr val="44AA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07040" y="3803341"/>
              <a:ext cx="8229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i="0" dirty="0">
                  <a:solidFill>
                    <a:srgbClr val="44AA44"/>
                  </a:solidFill>
                  <a:latin typeface="Calibri"/>
                </a:rPr>
                <a:t>59.48%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607040" y="5257800"/>
              <a:ext cx="822960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0" i="0">
                  <a:solidFill>
                    <a:srgbClr val="555555"/>
                  </a:solidFill>
                  <a:latin typeface="Calibri"/>
                </a:rPr>
                <a:t>Baseline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17920" y="4077661"/>
              <a:ext cx="5669280" cy="18288"/>
            </a:xfrm>
            <a:prstGeom prst="rect">
              <a:avLst/>
            </a:prstGeom>
            <a:solidFill>
              <a:srgbClr val="44AA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8" name="Rectangle 6">
            <a:extLst>
              <a:ext uri="{FF2B5EF4-FFF2-40B4-BE49-F238E27FC236}">
                <a16:creationId xmlns:a16="http://schemas.microsoft.com/office/drawing/2014/main" id="{0D45F961-6928-11A1-EE3B-393C434A9129}"/>
              </a:ext>
            </a:extLst>
          </p:cNvPr>
          <p:cNvSpPr/>
          <p:nvPr/>
        </p:nvSpPr>
        <p:spPr>
          <a:xfrm>
            <a:off x="409757" y="1556865"/>
            <a:ext cx="4915894" cy="12406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0AB68DE7-EFCB-DF54-7A01-CAAA92D6365D}"/>
              </a:ext>
            </a:extLst>
          </p:cNvPr>
          <p:cNvSpPr txBox="1"/>
          <p:nvPr/>
        </p:nvSpPr>
        <p:spPr>
          <a:xfrm>
            <a:off x="548640" y="1648305"/>
            <a:ext cx="667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F3D91"/>
                </a:solidFill>
                <a:latin typeface="Calibri"/>
              </a:rPr>
              <a:t>Setup</a:t>
            </a:r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F21C07F7-E833-F77B-A995-014C604FF3F2}"/>
              </a:ext>
            </a:extLst>
          </p:cNvPr>
          <p:cNvSpPr txBox="1"/>
          <p:nvPr/>
        </p:nvSpPr>
        <p:spPr>
          <a:xfrm>
            <a:off x="548640" y="1922625"/>
            <a:ext cx="3128838" cy="80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dirty="0">
                <a:solidFill>
                  <a:srgbClr val="1A1A2E"/>
                </a:solidFill>
                <a:latin typeface="Calibri"/>
              </a:rPr>
              <a:t>• Teacher: distilled MobileNet3D (Gen 0,</a:t>
            </a:r>
            <a:r>
              <a:rPr lang="en-US" sz="11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dirty="0">
                <a:solidFill>
                  <a:srgbClr val="1A1A2E"/>
                </a:solidFill>
                <a:latin typeface="Calibri"/>
              </a:rPr>
              <a:t>64.31%)</a:t>
            </a:r>
          </a:p>
          <a:p>
            <a:pPr algn="l">
              <a:lnSpc>
                <a:spcPts val="1400"/>
              </a:lnSpc>
            </a:pPr>
            <a:r>
              <a:rPr sz="1100" b="0" dirty="0">
                <a:solidFill>
                  <a:srgbClr val="1A1A2E"/>
                </a:solidFill>
                <a:latin typeface="Calibri"/>
              </a:rPr>
              <a:t>• Same arch → no interpolation needed</a:t>
            </a:r>
          </a:p>
          <a:p>
            <a:pPr algn="l">
              <a:lnSpc>
                <a:spcPts val="1400"/>
              </a:lnSpc>
            </a:pPr>
            <a:r>
              <a:rPr sz="1100" b="0" dirty="0">
                <a:solidFill>
                  <a:srgbClr val="1A1A2E"/>
                </a:solidFill>
                <a:latin typeface="Calibri"/>
              </a:rPr>
              <a:t>• Keys identical: [2,4,6] → [2,4,6]</a:t>
            </a:r>
          </a:p>
          <a:p>
            <a:pPr algn="l">
              <a:lnSpc>
                <a:spcPts val="1400"/>
              </a:lnSpc>
            </a:pPr>
            <a:r>
              <a:rPr sz="1100" b="0" dirty="0">
                <a:solidFill>
                  <a:srgbClr val="1A1A2E"/>
                </a:solidFill>
                <a:latin typeface="Calibri"/>
              </a:rPr>
              <a:t>• 3 successive student generations trained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AA10092E-FD65-2CEB-DC16-051DF35C42D6}"/>
              </a:ext>
            </a:extLst>
          </p:cNvPr>
          <p:cNvSpPr/>
          <p:nvPr/>
        </p:nvSpPr>
        <p:spPr>
          <a:xfrm>
            <a:off x="411480" y="2921110"/>
            <a:ext cx="4915894" cy="128814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0">
            <a:extLst>
              <a:ext uri="{FF2B5EF4-FFF2-40B4-BE49-F238E27FC236}">
                <a16:creationId xmlns:a16="http://schemas.microsoft.com/office/drawing/2014/main" id="{CBEB6638-3E5D-F6B2-3A08-7C75ED7285B7}"/>
              </a:ext>
            </a:extLst>
          </p:cNvPr>
          <p:cNvSpPr txBox="1"/>
          <p:nvPr/>
        </p:nvSpPr>
        <p:spPr>
          <a:xfrm>
            <a:off x="548640" y="3012550"/>
            <a:ext cx="2295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tx2"/>
                </a:solidFill>
                <a:latin typeface="Calibri"/>
              </a:rPr>
              <a:t>Temperature Choice (T=2.5)</a:t>
            </a: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34D2B793-5980-BB02-F749-DC0265A0A076}"/>
              </a:ext>
            </a:extLst>
          </p:cNvPr>
          <p:cNvSpPr txBox="1"/>
          <p:nvPr/>
        </p:nvSpPr>
        <p:spPr>
          <a:xfrm>
            <a:off x="548640" y="3286870"/>
            <a:ext cx="4690872" cy="80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dirty="0">
                <a:solidFill>
                  <a:srgbClr val="1A1A2E"/>
                </a:solidFill>
                <a:latin typeface="Calibri"/>
              </a:rPr>
              <a:t>Temperature was intentionally set very low (T=2.5) because the self-distillation teacher has a much lower confidence (~64%) compared to ResNet</a:t>
            </a:r>
            <a:r>
              <a:rPr lang="en-US" sz="1100" b="0" dirty="0">
                <a:solidFill>
                  <a:srgbClr val="1A1A2E"/>
                </a:solidFill>
                <a:latin typeface="Calibri"/>
              </a:rPr>
              <a:t>50</a:t>
            </a:r>
            <a:r>
              <a:rPr sz="110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lnSpc>
                <a:spcPts val="1400"/>
              </a:lnSpc>
            </a:pPr>
            <a:r>
              <a:rPr sz="1100" b="0" dirty="0">
                <a:solidFill>
                  <a:srgbClr val="1A1A2E"/>
                </a:solidFill>
                <a:latin typeface="Calibri"/>
              </a:rPr>
              <a:t>A high temperature would have over-smoothed the already-smooth logits and destroyed remaining sharp boundaries.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CROSS-FRAME DISTILLATION (slurm-train-eval-4675)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Cross-Frame 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Trading temporal resolution for wall-clock inference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Processing 24 frames/clip is expensive for edge deployments.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A 16-frame student (Model B) reduces temporal compute by 33.3%.</a:t>
            </a:r>
          </a:p>
          <a:p>
            <a:pPr algn="l">
              <a:lnSpc>
                <a:spcPts val="1500"/>
              </a:lnSpc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Question: does this translate to real wall-clock speedup?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Benchmark on the full official test set (3,783 clips).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57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Benchmark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233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Dataset: official UCF-101 test split (3,783 clips)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Metric: pure forward-pass latency (I/O excluded)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GPU: NVIDIA L40S (CUDA synchronization)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CPU: sub-sampled (50×BS=1, 20×BS=8)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Server: DMI Cluster gnode10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91"/>
                </a:solidFill>
                <a:latin typeface="Calibri"/>
              </a:rPr>
              <a:t>Model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1828800" cy="38404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920240"/>
            <a:ext cx="1737360" cy="38404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Model A (24f)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1920240"/>
            <a:ext cx="1737360" cy="384048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19202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Model B (16f)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0428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304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Frames / clip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30428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304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20" y="230428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2304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688336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6883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Top-1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2688336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26883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65.85%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04120" y="2688336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0" y="26883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62.68%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072384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30723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Accuracy gap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307238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307238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4984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−3.17 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456432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3456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Frame reduction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3456432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34564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3456432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49840" y="34564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−33.3%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840480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840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GPU speedup (BS≥8)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3840480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0" y="3840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3840480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49840" y="3840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~1.6×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22452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4224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CPU speedup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4224528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42245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04120" y="4224528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49840" y="42245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~1.57×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4608576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46520" y="46085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GPU latency saved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460857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21040" y="46085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04120" y="460857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149840" y="46085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37–40%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992624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46520" y="4992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CPU latency saved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4992624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21040" y="4992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04120" y="4992624"/>
            <a:ext cx="17373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49840" y="4992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35–37%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376672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46520" y="5376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CPU BS=1 latency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537667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53766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136.7 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04120" y="537667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149840" y="53766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88.5 ms 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20" y="1435608"/>
            <a:ext cx="10724184" cy="42098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GPU BENCHMARK | NVIDIA L40S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GPU Benchmark — NVIDIA L40S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Model A (24f) vs Model B (16f) — pure inference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64542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3D91"/>
                </a:solidFill>
                <a:latin typeface="Calibri"/>
              </a:rPr>
              <a:t>GPU Results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9289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Calibri"/>
              </a:rPr>
              <a:t>BS≥8 (saturated): Model B achieves 37–40% latency savings (1.59×–1.66× speedup), exceeding theoretical 33.3% due to better Tensor Core memory alignment.  BS=1: PCIe kernel launch overhead dominates → only ~11.5% saving.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3B3B5BED-FA68-BB51-649A-3CE1B27E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19" y="1451253"/>
            <a:ext cx="10634471" cy="419417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CPU BENCHMARK | CLUSTER 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CPU Benchmark — Cluster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Without PCIe overhead, speedup reflects pure arithmetic FLOP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64542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3D91"/>
                </a:solidFill>
                <a:latin typeface="Calibri"/>
              </a:rPr>
              <a:t>CPU Results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9289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Calibri"/>
              </a:rPr>
              <a:t>Model B (16f): 136.70 </a:t>
            </a:r>
            <a:r>
              <a:rPr sz="1000" b="0" i="0" dirty="0" err="1">
                <a:solidFill>
                  <a:srgbClr val="555555"/>
                </a:solidFill>
                <a:latin typeface="Calibri"/>
              </a:rPr>
              <a:t>ms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→ 88.51 </a:t>
            </a:r>
            <a:r>
              <a:rPr sz="1000" b="0" i="0" dirty="0" err="1">
                <a:solidFill>
                  <a:srgbClr val="555555"/>
                </a:solidFill>
                <a:latin typeface="Calibri"/>
              </a:rPr>
              <a:t>ms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at BS=1 (−35.3%), crossing below 100 </a:t>
            </a:r>
            <a:r>
              <a:rPr sz="1000" b="0" i="0" dirty="0" err="1">
                <a:solidFill>
                  <a:srgbClr val="555555"/>
                </a:solidFill>
                <a:latin typeface="Calibri"/>
              </a:rPr>
              <a:t>ms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real-time threshold.  At BS=8: 1.60× speedup (−37.3%). Ideal for CPU-only edge deployments.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SPEED-ACCURACY TRADE-OFF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Speed-Accuracy Trade-off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65.85%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Model A
Top-1 (24f, T=20)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2928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62.68%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Model B
Top-1 (16f, cross-frame)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2936" y="1600200"/>
            <a:ext cx="2194560" cy="1188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48656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4800"/>
                </a:solidFill>
                <a:latin typeface="Calibri"/>
              </a:rPr>
              <a:t>−3.17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Δ Acc
pp vs Model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98664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44384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3D91"/>
                </a:solidFill>
                <a:latin typeface="Calibri"/>
              </a:rPr>
              <a:t>1.6×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4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GPU ×
speedup at BS≥8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94392" y="1600200"/>
            <a:ext cx="219456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2" y="1645920"/>
            <a:ext cx="2103120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F3D91"/>
                </a:solidFill>
                <a:latin typeface="Calibri"/>
              </a:rPr>
              <a:t>~36%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289657"/>
            <a:ext cx="210312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555555"/>
                </a:solidFill>
                <a:latin typeface="Calibri"/>
              </a:rPr>
              <a:t>CPU ↓
latency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926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Trade-off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383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Model A — Accuracy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4903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Best Top-1: 65.85% (+6.37 pp vs baseline)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Best Top-5: 89.24% (+6.47 pp)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24 frames/clip — higher compute cost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Suitable for server-side inference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KD T=20, α=0.7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383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Model B — Efficiency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74903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BS=1 CPU latency: 88.5 ms (&lt;100 ms threshold)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1.6× GPU speedup at BS≥8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Still +3.20 pp over scratch baseline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16 frames/clip — edge deployment ready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Ideal for mobile / real-time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383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Key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74903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Saving 37–40% of latency costs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only 3.17 pp in accuracy vs Model A.</a:t>
            </a:r>
          </a:p>
          <a:p>
            <a:pPr algn="l">
              <a:lnSpc>
                <a:spcPts val="1500"/>
              </a:lnSpc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Model B still exceeds the scratch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baseline by +3.20 pp.</a:t>
            </a:r>
          </a:p>
          <a:p>
            <a:pPr algn="l">
              <a:lnSpc>
                <a:spcPts val="1500"/>
              </a:lnSpc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→ Excellent operating point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   for real-world deployment.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7135-AA4B-E37D-5EC3-7767CCB1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9696EB-96F8-FB02-95CD-AC2D70EED5D1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29D15-3196-ED95-EB8B-A6CBD992CB99}"/>
              </a:ext>
            </a:extLst>
          </p:cNvPr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EFFICIENCY — SPEED-ACCURACY TRADE-OFF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6D481-A330-BF5D-D877-732263FA5F0D}"/>
              </a:ext>
            </a:extLst>
          </p:cNvPr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Speed-Accuracy Trade-off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EEA0D8-2837-5EF7-2BA2-C9D956CED438}"/>
              </a:ext>
            </a:extLst>
          </p:cNvPr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C7214F-6F43-805E-9EDA-E339C078E54D}"/>
              </a:ext>
            </a:extLst>
          </p:cNvPr>
          <p:cNvSpPr txBox="1"/>
          <p:nvPr/>
        </p:nvSpPr>
        <p:spPr>
          <a:xfrm>
            <a:off x="411480" y="31089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91"/>
                </a:solidFill>
                <a:latin typeface="Calibri"/>
              </a:rPr>
              <a:t>Trade-off Analysis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04AFA0-7C5B-7F9B-C8C0-1A798D4833AF}"/>
              </a:ext>
            </a:extLst>
          </p:cNvPr>
          <p:cNvSpPr/>
          <p:nvPr/>
        </p:nvSpPr>
        <p:spPr>
          <a:xfrm>
            <a:off x="411480" y="347472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FF43E-956C-050A-2B5A-EA79F65AA548}"/>
              </a:ext>
            </a:extLst>
          </p:cNvPr>
          <p:cNvSpPr txBox="1"/>
          <p:nvPr/>
        </p:nvSpPr>
        <p:spPr>
          <a:xfrm>
            <a:off x="411480" y="3566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Model A — Accuracy Focus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C1E85-213A-BD76-2A8A-F17A48D34B77}"/>
              </a:ext>
            </a:extLst>
          </p:cNvPr>
          <p:cNvSpPr txBox="1"/>
          <p:nvPr/>
        </p:nvSpPr>
        <p:spPr>
          <a:xfrm>
            <a:off x="411480" y="393191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Best Top-1: 65.85% (+6.37 pp vs baseline)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Best Top-5: 89.24% (+6.47 pp)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24 frames/clip — higher compute cost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Suitable for server-side inference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KD T=20, α=0.7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CFDEE7-CDF5-3B7F-715A-9E1E62E04E2B}"/>
              </a:ext>
            </a:extLst>
          </p:cNvPr>
          <p:cNvSpPr txBox="1"/>
          <p:nvPr/>
        </p:nvSpPr>
        <p:spPr>
          <a:xfrm>
            <a:off x="4251960" y="3566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Model B — Efficiency Focus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955CA0-BF9C-3E44-E007-CB282D35DC40}"/>
              </a:ext>
            </a:extLst>
          </p:cNvPr>
          <p:cNvSpPr txBox="1"/>
          <p:nvPr/>
        </p:nvSpPr>
        <p:spPr>
          <a:xfrm>
            <a:off x="4251960" y="393191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BS=1 CPU latency: 88.5 ms (&lt;100 ms threshold)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1.6× GPU speedup at BS≥8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✓ Still +3.20 pp over scratch baseline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16 frames/clip — edge deployment ready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• Ideal for mobile / real-time pipelines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731D0C-16FA-8D59-9054-B5170502BFFA}"/>
              </a:ext>
            </a:extLst>
          </p:cNvPr>
          <p:cNvSpPr txBox="1"/>
          <p:nvPr/>
        </p:nvSpPr>
        <p:spPr>
          <a:xfrm>
            <a:off x="8092440" y="3566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Key Insight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CB6C08-FBC2-B69C-5B45-0A85C9341B9E}"/>
              </a:ext>
            </a:extLst>
          </p:cNvPr>
          <p:cNvSpPr txBox="1"/>
          <p:nvPr/>
        </p:nvSpPr>
        <p:spPr>
          <a:xfrm>
            <a:off x="8092440" y="3931919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Saving 37–40% of latency costs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only 3.17 pp in accuracy vs Model A.</a:t>
            </a:r>
          </a:p>
          <a:p>
            <a:pPr algn="l">
              <a:lnSpc>
                <a:spcPts val="1500"/>
              </a:lnSpc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Model B still exceeds the scratch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baseline by +3.20 pp.</a:t>
            </a:r>
          </a:p>
          <a:p>
            <a:pPr algn="l">
              <a:lnSpc>
                <a:spcPts val="1500"/>
              </a:lnSpc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→ Excellent operating point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1A1A2E"/>
                </a:solidFill>
                <a:latin typeface="Calibri"/>
              </a:rPr>
              <a:t>   for real-world deployment.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403B94A4-5352-0BBA-93AC-7FE40724F073}"/>
              </a:ext>
            </a:extLst>
          </p:cNvPr>
          <p:cNvSpPr/>
          <p:nvPr/>
        </p:nvSpPr>
        <p:spPr>
          <a:xfrm>
            <a:off x="582502" y="1463041"/>
            <a:ext cx="2065351" cy="1325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ADE8AE9A-2456-EF4E-FCCC-A710261B7E7A}"/>
              </a:ext>
            </a:extLst>
          </p:cNvPr>
          <p:cNvSpPr txBox="1"/>
          <p:nvPr/>
        </p:nvSpPr>
        <p:spPr>
          <a:xfrm>
            <a:off x="582502" y="1737361"/>
            <a:ext cx="2065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3D91"/>
                </a:solidFill>
                <a:latin typeface="Calibri"/>
              </a:rPr>
              <a:t>65.85%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15E394AF-0C24-307F-79C9-FEF978621873}"/>
              </a:ext>
            </a:extLst>
          </p:cNvPr>
          <p:cNvSpPr txBox="1"/>
          <p:nvPr/>
        </p:nvSpPr>
        <p:spPr>
          <a:xfrm>
            <a:off x="582502" y="2286001"/>
            <a:ext cx="2065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Model A Top-1</a:t>
            </a: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79D1CE4-313B-80CA-B8D1-F7F54A6332B2}"/>
              </a:ext>
            </a:extLst>
          </p:cNvPr>
          <p:cNvSpPr/>
          <p:nvPr/>
        </p:nvSpPr>
        <p:spPr>
          <a:xfrm>
            <a:off x="2822119" y="1463041"/>
            <a:ext cx="2065351" cy="13258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3D599DA5-5642-B6B2-8F54-B3851FE27E40}"/>
              </a:ext>
            </a:extLst>
          </p:cNvPr>
          <p:cNvSpPr txBox="1"/>
          <p:nvPr/>
        </p:nvSpPr>
        <p:spPr>
          <a:xfrm>
            <a:off x="2822119" y="1737361"/>
            <a:ext cx="2065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Calibri"/>
              </a:rPr>
              <a:t>62.68%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FE0A41E4-12A1-82E0-8C00-E00C9C557B3A}"/>
              </a:ext>
            </a:extLst>
          </p:cNvPr>
          <p:cNvSpPr txBox="1"/>
          <p:nvPr/>
        </p:nvSpPr>
        <p:spPr>
          <a:xfrm>
            <a:off x="2822119" y="2286001"/>
            <a:ext cx="2065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Model B Top-1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B92A7AC5-C850-06EE-2B6E-BBEC3B264603}"/>
              </a:ext>
            </a:extLst>
          </p:cNvPr>
          <p:cNvSpPr/>
          <p:nvPr/>
        </p:nvSpPr>
        <p:spPr>
          <a:xfrm>
            <a:off x="5061736" y="1463041"/>
            <a:ext cx="2065351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C2826AEB-C1F6-2433-B836-95A311E7CE98}"/>
              </a:ext>
            </a:extLst>
          </p:cNvPr>
          <p:cNvSpPr txBox="1"/>
          <p:nvPr/>
        </p:nvSpPr>
        <p:spPr>
          <a:xfrm>
            <a:off x="5061736" y="1737361"/>
            <a:ext cx="2065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3545"/>
                </a:solidFill>
                <a:latin typeface="Calibri"/>
              </a:rPr>
              <a:t>−3.17 pp</a:t>
            </a: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05C8E44-752C-C9F7-D712-6129599EAEDF}"/>
              </a:ext>
            </a:extLst>
          </p:cNvPr>
          <p:cNvSpPr txBox="1"/>
          <p:nvPr/>
        </p:nvSpPr>
        <p:spPr>
          <a:xfrm>
            <a:off x="5061736" y="2286001"/>
            <a:ext cx="2065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Δ Acc vs Model A</a:t>
            </a: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658C81D0-E08F-8578-18B1-6F06EF79F648}"/>
              </a:ext>
            </a:extLst>
          </p:cNvPr>
          <p:cNvSpPr/>
          <p:nvPr/>
        </p:nvSpPr>
        <p:spPr>
          <a:xfrm>
            <a:off x="7301353" y="1463041"/>
            <a:ext cx="2065351" cy="1325880"/>
          </a:xfrm>
          <a:prstGeom prst="rect">
            <a:avLst/>
          </a:prstGeom>
          <a:solidFill>
            <a:srgbClr val="FFF3E0"/>
          </a:solidFill>
          <a:ln w="19050">
            <a:solidFill>
              <a:srgbClr val="E5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87C17E44-3B6A-0855-F89C-4AEF7CAC0E90}"/>
              </a:ext>
            </a:extLst>
          </p:cNvPr>
          <p:cNvSpPr txBox="1"/>
          <p:nvPr/>
        </p:nvSpPr>
        <p:spPr>
          <a:xfrm>
            <a:off x="7301353" y="1737361"/>
            <a:ext cx="2065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8A745"/>
                </a:solidFill>
                <a:latin typeface="Calibri"/>
              </a:rPr>
              <a:t>1.6×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4A569E36-9B86-5E6A-B217-596E16D6D5F8}"/>
              </a:ext>
            </a:extLst>
          </p:cNvPr>
          <p:cNvSpPr txBox="1"/>
          <p:nvPr/>
        </p:nvSpPr>
        <p:spPr>
          <a:xfrm>
            <a:off x="7301353" y="2286001"/>
            <a:ext cx="2065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GPU Speedup</a:t>
            </a:r>
          </a:p>
        </p:txBody>
      </p:sp>
      <p:sp>
        <p:nvSpPr>
          <p:cNvPr id="41" name="Rectangle 14">
            <a:extLst>
              <a:ext uri="{FF2B5EF4-FFF2-40B4-BE49-F238E27FC236}">
                <a16:creationId xmlns:a16="http://schemas.microsoft.com/office/drawing/2014/main" id="{BEBFB69C-7A5A-0369-D382-7B7C861B9B66}"/>
              </a:ext>
            </a:extLst>
          </p:cNvPr>
          <p:cNvSpPr/>
          <p:nvPr/>
        </p:nvSpPr>
        <p:spPr>
          <a:xfrm>
            <a:off x="9540970" y="1463041"/>
            <a:ext cx="2065351" cy="1325880"/>
          </a:xfrm>
          <a:prstGeom prst="rect">
            <a:avLst/>
          </a:prstGeom>
          <a:solidFill>
            <a:srgbClr val="FFF3E0"/>
          </a:solidFill>
          <a:ln w="19050">
            <a:solidFill>
              <a:srgbClr val="E5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CAD7F55D-4172-0C48-D915-37AEBF8998C7}"/>
              </a:ext>
            </a:extLst>
          </p:cNvPr>
          <p:cNvSpPr txBox="1"/>
          <p:nvPr/>
        </p:nvSpPr>
        <p:spPr>
          <a:xfrm>
            <a:off x="9540970" y="1737361"/>
            <a:ext cx="2065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dirty="0">
                <a:solidFill>
                  <a:srgbClr val="00B050"/>
                </a:solidFill>
              </a:rPr>
              <a:t>-36%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4FE75D5C-B8FE-FD9D-5C03-61B4B24A2FF6}"/>
              </a:ext>
            </a:extLst>
          </p:cNvPr>
          <p:cNvSpPr txBox="1"/>
          <p:nvPr/>
        </p:nvSpPr>
        <p:spPr>
          <a:xfrm>
            <a:off x="9540970" y="2286001"/>
            <a:ext cx="2065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1A1A2E"/>
                </a:solidFill>
                <a:latin typeface="Calibri"/>
              </a:rPr>
              <a:t>CPU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1A1A2E"/>
                </a:solidFill>
                <a:latin typeface="Calibri"/>
              </a:rPr>
              <a:t>Latency</a:t>
            </a:r>
            <a:endParaRPr sz="1100" b="0" i="0" dirty="0">
              <a:solidFill>
                <a:srgbClr val="1A1A2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029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3D91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Summary &amp;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Logit-Based KD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Effective and zero-overhead. Best config: T=20, α=0.7 → 65.85% Top-1 (+6.37 pp vs. scratch baseline 59.48%). Higher T smooths logits and exposes inter-class 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81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Attention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9280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Limited by depthwise ↔ standard conv mismatch. Spatial AT over-constrains student; temporal-only AT is the best variant (62.07%). All AT variants underperform pure KD T=20.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15468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27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4800"/>
                </a:solidFill>
                <a:latin typeface="Calibri"/>
              </a:rPr>
              <a:t>Born-Again Self-Distillation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3872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Sensitive to teacher quality and temperature calibration. Noisy soft-targets from a ~65% teacher cause progressive generational collapse (64% → 59.21%).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54680"/>
            <a:ext cx="539496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227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D91"/>
                </a:solidFill>
                <a:latin typeface="Calibri"/>
              </a:rPr>
              <a:t>Cross-Frame Distillation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38728"/>
            <a:ext cx="52120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16-frame Model B achieves 1.6× GPU speedup and crosses 100 ms CPU threshold (88.5 ms/clip). −3.17 pp accuracy vs. Model A — an excellent operating point for edge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00600"/>
            <a:ext cx="11365992" cy="1691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864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Take-Away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KD compresses a 3D ResNet-50 (~128 MB) into a MobileNet3D (~9.5 MB) achieving 65.85% Top-1 on UCF-101 (+6.37 pp over scratch). The 16-frame variant reduces inference by 37–40% on GPU with only −3.17 pp accuracy cost — an excellent operating point for real-world edge deployments.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BB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9000"/>
            <a:ext cx="2743200" cy="36576"/>
          </a:xfrm>
          <a:prstGeom prst="rect">
            <a:avLst/>
          </a:prstGeom>
          <a:solidFill>
            <a:srgbClr val="E5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Daniele Barbagallo   ·   1000015334</a:t>
            </a:r>
          </a:p>
          <a:p>
            <a:pPr algn="l"/>
            <a:r>
              <a:rPr sz="1000" b="0">
                <a:solidFill>
                  <a:srgbClr val="8888BB"/>
                </a:solidFill>
                <a:latin typeface="Calibri"/>
              </a:rPr>
              <a:t>Deep Learning — Advanced Models and Methods</a:t>
            </a:r>
          </a:p>
          <a:p>
            <a:pPr algn="l"/>
            <a:r>
              <a:rPr sz="1000" b="0">
                <a:solidFill>
                  <a:srgbClr val="8888BB"/>
                </a:solidFill>
                <a:latin typeface="Calibri"/>
              </a:rPr>
              <a:t>Università di Catania — DMI   |   A.A. 2025/2026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65.85%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Best Top-1
(KD T=20)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2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1.6×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GPU Speedup
(Model 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84064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~9.5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Student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6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51776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&lt;89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CPU Latency
BS=1 (16f)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19488" y="5029200"/>
            <a:ext cx="2103120" cy="118872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19488" y="5074920"/>
            <a:ext cx="210312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+6.37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5718657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ACC"/>
                </a:solidFill>
                <a:latin typeface="Calibri"/>
              </a:rPr>
              <a:t>KD gain
vs scratch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3110</Words>
  <Application>Microsoft Office PowerPoint</Application>
  <PresentationFormat>Personalizzato</PresentationFormat>
  <Paragraphs>465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DANIELE BARBAGALLO</cp:lastModifiedBy>
  <cp:revision>9</cp:revision>
  <dcterms:created xsi:type="dcterms:W3CDTF">2013-01-27T09:14:16Z</dcterms:created>
  <dcterms:modified xsi:type="dcterms:W3CDTF">2026-05-25T18:46:10Z</dcterms:modified>
  <cp:category/>
</cp:coreProperties>
</file>