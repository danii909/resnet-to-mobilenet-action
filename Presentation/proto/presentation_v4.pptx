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65836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2000"/>
              </a:spcAft>
              <a:defRPr sz="1100" b="1">
                <a:solidFill>
                  <a:srgbClr val="38D2BE"/>
                </a:solidFill>
                <a:latin typeface="Segoe UI"/>
              </a:defRPr>
            </a:pPr>
            <a:r>
              <a:t>DEEP LEARNING — ADVANCED MODELS AND METHODS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4000" b="1">
                <a:solidFill>
                  <a:srgbClr val="F0F0F8"/>
                </a:solidFill>
                <a:latin typeface="Segoe UI"/>
              </a:defRPr>
            </a:pPr>
            <a:r>
              <a:t>Knowledge Distillation</a:t>
            </a:r>
            <a:br/>
            <a:r>
              <a:t>for Mobile Action Recognition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500" b="0">
                <a:solidFill>
                  <a:srgbClr val="C3C3D2"/>
                </a:solidFill>
                <a:latin typeface="Segoe UI"/>
              </a:defRPr>
            </a:pPr>
            <a:r>
              <a:t>Compressing a 3D ResNet-50 teacher into a MobileNet3D student</a:t>
            </a:r>
            <a:br/>
            <a:r>
              <a:t>for efficient video action recognition on UCF-101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38160" y="1005840"/>
            <a:ext cx="3291840" cy="4754880"/>
          </a:xfrm>
          <a:prstGeom prst="roundRect">
            <a:avLst>
              <a:gd name="adj" fmla="val 4000"/>
            </a:avLst>
          </a:prstGeom>
          <a:solidFill>
            <a:srgbClr val="1C1C28"/>
          </a:solidFill>
          <a:ln w="12700">
            <a:solidFill>
              <a:srgbClr val="32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66760" y="1234440"/>
            <a:ext cx="2834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8D2BE"/>
                </a:solidFill>
                <a:latin typeface="Segoe UI"/>
              </a:defRPr>
            </a:pPr>
            <a:r>
              <a:t>PROJECT INFO</a:t>
            </a:r>
          </a:p>
          <a:p>
            <a:pPr>
              <a:lnSpc>
                <a:spcPct val="120000"/>
              </a:lnSpc>
              <a:spcAft>
                <a:spcPts val="100"/>
              </a:spcAft>
              <a:defRPr sz="800" b="1">
                <a:solidFill>
                  <a:srgbClr val="8C8C9E"/>
                </a:solidFill>
                <a:latin typeface="Segoe UI"/>
              </a:defRPr>
            </a:pPr>
            <a:r>
              <a:t>AUTHOR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 b="1">
                <a:solidFill>
                  <a:srgbClr val="F0F0F8"/>
                </a:solidFill>
                <a:latin typeface="Segoe UI"/>
              </a:defRPr>
            </a:pPr>
            <a:r>
              <a:t>Daniele Barbagallo</a:t>
            </a:r>
          </a:p>
          <a:p>
            <a:pPr>
              <a:lnSpc>
                <a:spcPct val="120000"/>
              </a:lnSpc>
              <a:spcAft>
                <a:spcPts val="100"/>
              </a:spcAft>
              <a:defRPr sz="800" b="1">
                <a:solidFill>
                  <a:srgbClr val="8C8C9E"/>
                </a:solidFill>
                <a:latin typeface="Segoe UI"/>
              </a:defRPr>
            </a:pPr>
            <a:r>
              <a:t>STUDENT ID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 b="1">
                <a:solidFill>
                  <a:srgbClr val="F0F0F8"/>
                </a:solidFill>
                <a:latin typeface="Segoe UI"/>
              </a:defRPr>
            </a:pPr>
            <a:r>
              <a:t>1000015334</a:t>
            </a:r>
          </a:p>
          <a:p>
            <a:pPr>
              <a:lnSpc>
                <a:spcPct val="120000"/>
              </a:lnSpc>
              <a:spcAft>
                <a:spcPts val="100"/>
              </a:spcAft>
              <a:defRPr sz="800" b="1">
                <a:solidFill>
                  <a:srgbClr val="8C8C9E"/>
                </a:solidFill>
                <a:latin typeface="Segoe UI"/>
              </a:defRPr>
            </a:pPr>
            <a:r>
              <a:t>ADVISOR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 b="1">
                <a:solidFill>
                  <a:srgbClr val="F0F0F8"/>
                </a:solidFill>
                <a:latin typeface="Segoe UI"/>
              </a:defRPr>
            </a:pPr>
            <a:r>
              <a:t>Prof. Antonino Furnari</a:t>
            </a:r>
          </a:p>
          <a:p>
            <a:pPr>
              <a:lnSpc>
                <a:spcPct val="120000"/>
              </a:lnSpc>
              <a:spcAft>
                <a:spcPts val="100"/>
              </a:spcAft>
              <a:defRPr sz="800" b="1">
                <a:solidFill>
                  <a:srgbClr val="8C8C9E"/>
                </a:solidFill>
                <a:latin typeface="Segoe UI"/>
              </a:defRPr>
            </a:pPr>
            <a:r>
              <a:t>COURSE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 b="1">
                <a:solidFill>
                  <a:srgbClr val="F0F0F8"/>
                </a:solidFill>
                <a:latin typeface="Segoe UI"/>
              </a:defRPr>
            </a:pPr>
            <a:r>
              <a:t>Deep Learning (AMM)</a:t>
            </a:r>
          </a:p>
          <a:p>
            <a:pPr>
              <a:lnSpc>
                <a:spcPct val="120000"/>
              </a:lnSpc>
              <a:spcAft>
                <a:spcPts val="100"/>
              </a:spcAft>
              <a:defRPr sz="800" b="1">
                <a:solidFill>
                  <a:srgbClr val="8C8C9E"/>
                </a:solidFill>
                <a:latin typeface="Segoe UI"/>
              </a:defRPr>
            </a:pPr>
            <a:r>
              <a:t>UNIVERSITY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 b="1">
                <a:solidFill>
                  <a:srgbClr val="F0F0F8"/>
                </a:solidFill>
                <a:latin typeface="Segoe UI"/>
              </a:defRPr>
            </a:pPr>
            <a:r>
              <a:t>Università di Catania — DMI</a:t>
            </a:r>
          </a:p>
          <a:p>
            <a:pPr>
              <a:lnSpc>
                <a:spcPct val="120000"/>
              </a:lnSpc>
              <a:spcAft>
                <a:spcPts val="100"/>
              </a:spcAft>
              <a:defRPr sz="800" b="1">
                <a:solidFill>
                  <a:srgbClr val="8C8C9E"/>
                </a:solidFill>
                <a:latin typeface="Segoe UI"/>
              </a:defRPr>
            </a:pPr>
            <a:r>
              <a:t>YEAR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 b="1">
                <a:solidFill>
                  <a:srgbClr val="F0F0F8"/>
                </a:solidFill>
                <a:latin typeface="Segoe UI"/>
              </a:defRPr>
            </a:pPr>
            <a:r>
              <a:t>2025 /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38D2BE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1">
                <a:solidFill>
                  <a:srgbClr val="F0F0F8"/>
                </a:solidFill>
                <a:latin typeface="Segoe UI"/>
              </a:defRPr>
            </a:pPr>
            <a:r>
              <a:t>Objective &amp; Capacity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463040" cy="31750"/>
          </a:xfrm>
          <a:prstGeom prst="rect">
            <a:avLst/>
          </a:prstGeom>
          <a:solidFill>
            <a:srgbClr val="3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3035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8D2BE"/>
                </a:solidFill>
                <a:latin typeface="Segoe UI"/>
              </a:defRPr>
            </a:pPr>
            <a:r>
              <a:t>PROBLEM STATEMENT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Goal: compress a large 3D ResNet-50 teacher (~128 MB, pretrained on Kinetics-400) into a MobileNet3D student (~9.5 MB) for on-device video action recognition.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The student trained from scratch with standard cross-entropy reaches only 59.48% Test Top-1 — a 29.3 pp gap with the teacher (88.82%).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Knowledge Distillation transfers the teacher's soft probability distributions to the student, closing part of this gap without changing the student architecture or increasing its size.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554480"/>
            <a:ext cx="4846320" cy="4114800"/>
          </a:xfrm>
          <a:prstGeom prst="roundRect">
            <a:avLst>
              <a:gd name="adj" fmla="val 4000"/>
            </a:avLst>
          </a:prstGeom>
          <a:solidFill>
            <a:srgbClr val="1C1C28"/>
          </a:solidFill>
          <a:ln w="12700">
            <a:solidFill>
              <a:srgbClr val="32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8288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8D2BE"/>
                </a:solidFill>
                <a:latin typeface="Segoe UI"/>
              </a:defRPr>
            </a:pPr>
            <a:r>
              <a:t>REFERENCE MODELS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766560" y="2468880"/>
          <a:ext cx="44805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140"/>
                <a:gridCol w="1120140"/>
                <a:gridCol w="1120140"/>
                <a:gridCol w="11201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Test Top-1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Test Top-5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8D2BE"/>
                          </a:solidFill>
                          <a:latin typeface="Segoe UI"/>
                        </a:defRPr>
                      </a:pPr>
                      <a:r>
                        <a:t>Teacher (3D ResNet-50)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~128 MB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88.82 %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98.18 %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A087F5"/>
                          </a:solidFill>
                          <a:latin typeface="Segoe UI"/>
                        </a:defRPr>
                      </a:pPr>
                      <a:r>
                        <a:t>Student Baseline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~9.5 MB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59.48 %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82.77 %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766560" y="4114800"/>
            <a:ext cx="44805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0">
                <a:solidFill>
                  <a:srgbClr val="8C8C9E"/>
                </a:solidFill>
                <a:latin typeface="Segoe UI"/>
              </a:defRPr>
            </a:pPr>
            <a:r>
              <a:t>The teacher is pretrained and fine-tuned; the student is trained from scratch. All experiments use the official UCF-101 test set for final evaluation.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38D2BE"/>
                </a:solidFill>
                <a:latin typeface="Segoe UI"/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1">
                <a:solidFill>
                  <a:srgbClr val="F0F0F8"/>
                </a:solidFill>
                <a:latin typeface="Segoe UI"/>
              </a:defRPr>
            </a:pPr>
            <a:r>
              <a:t>Experimental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463040" cy="31750"/>
          </a:xfrm>
          <a:prstGeom prst="rect">
            <a:avLst/>
          </a:prstGeom>
          <a:solidFill>
            <a:srgbClr val="3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1206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8D2BE"/>
                </a:solidFill>
                <a:latin typeface="Segoe UI"/>
              </a:defRPr>
            </a:pPr>
            <a:r>
              <a:t>TRAINING CONFIGURATION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•  Optimizer: AdamW (weight decay 0.01)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•  Scheduler: cosine annealing (LR 5e-4 student, 7e-4 teacher)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•  Epochs: 60 (+ 10-epoch CE-only warmup for KD runs)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•  Batch size: 16 (student) / 12 (teacher)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•  Mixed precision (AMP), label smoothing 0.1, gradient clipping 1.0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•  Augmentation: resize short-side 128 → crop 112×112, horizontal flip, color jitter 0.1, random erasing 0.05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54480"/>
            <a:ext cx="5120640" cy="4206240"/>
          </a:xfrm>
          <a:prstGeom prst="roundRect">
            <a:avLst>
              <a:gd name="adj" fmla="val 4000"/>
            </a:avLst>
          </a:prstGeom>
          <a:solidFill>
            <a:srgbClr val="1C1C28"/>
          </a:solidFill>
          <a:ln w="12700">
            <a:solidFill>
              <a:srgbClr val="32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828800"/>
            <a:ext cx="46634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8D2BE"/>
                </a:solidFill>
                <a:latin typeface="Segoe UI"/>
              </a:defRPr>
            </a:pPr>
            <a:r>
              <a:t>GROUP-AWARE EVALUATION SPLIT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UCF-101 videos are organized into groups originating from the same source clip. A naïve random split leaks correlated frames between train and eval sets, inflating metrics.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 b="1">
                <a:solidFill>
                  <a:srgbClr val="F0F0F8"/>
                </a:solidFill>
                <a:latin typeface="Segoe UI"/>
              </a:defRPr>
            </a:pPr>
            <a:r>
              <a:t>The training set was split at the group level (regex on video IDs) to create a clean evaluation partition (20 %), preventing data leakage.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This reduced validation accuracy from fictitiously high values to a realistic 60-65 % range, ensuring reliable model selection.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38D2BE"/>
                </a:solidFill>
                <a:latin typeface="Segoe UI"/>
              </a:defRPr>
            </a:pPr>
            <a:r>
              <a:t>KNOWLEDGE DISTILLATION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1">
                <a:solidFill>
                  <a:srgbClr val="F0F0F8"/>
                </a:solidFill>
                <a:latin typeface="Segoe UI"/>
              </a:defRPr>
            </a:pPr>
            <a:r>
              <a:t>Logit-Based Knowledge Distillation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463040" cy="31750"/>
          </a:xfrm>
          <a:prstGeom prst="rect">
            <a:avLst/>
          </a:prstGeom>
          <a:solidFill>
            <a:srgbClr val="3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1206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8D2BE"/>
                </a:solidFill>
                <a:latin typeface="Segoe UI"/>
              </a:defRPr>
            </a:pPr>
            <a:r>
              <a:t>METHOD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The distillation loss combines standard cross-entropy on hard labels with KL divergence on temperature-softened teacher logits.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A 10-epoch warmup phase (CE-only) stabilizes student weights before soft targets are introduced.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8D2BE"/>
                </a:solidFill>
                <a:latin typeface="Segoe UI"/>
              </a:defRPr>
            </a:pPr>
            <a:r>
              <a:t>STANDARD CONFIGURATION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 b="1">
                <a:solidFill>
                  <a:srgbClr val="F0F0F8"/>
                </a:solidFill>
                <a:latin typeface="Segoe UI"/>
              </a:defRPr>
            </a:pPr>
            <a:r>
              <a:t>T = 8,  α = 0.7  →  Test Top-1: 64.31 %  (+4.83 pp vs baseline)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The best overall result was obtained at higher temperatures (see ablation slides). The distilled student retains the same 9.5 MB size and inference latency.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54480"/>
            <a:ext cx="5120640" cy="4206240"/>
          </a:xfrm>
          <a:prstGeom prst="roundRect">
            <a:avLst>
              <a:gd name="adj" fmla="val 4000"/>
            </a:avLst>
          </a:prstGeom>
          <a:solidFill>
            <a:srgbClr val="1C1C28"/>
          </a:solidFill>
          <a:ln w="12700">
            <a:solidFill>
              <a:srgbClr val="32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8288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8D2BE"/>
                </a:solidFill>
                <a:latin typeface="Segoe UI"/>
              </a:defRPr>
            </a:pPr>
            <a:r>
              <a:t>RESULTS COMPARISON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37960" y="2468880"/>
          <a:ext cx="46634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688"/>
                <a:gridCol w="932688"/>
                <a:gridCol w="932688"/>
                <a:gridCol w="932688"/>
                <a:gridCol w="932688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Val Top-1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Test Top-1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Test Top-5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Δ vs BL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Teacher (R50)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92.36 %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88.82 %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98.18 %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Baseline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59.18 %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59.48 %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82.77 %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ref.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KD (T=8, α=0.7)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64.57 %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8D2BE"/>
                          </a:solidFill>
                          <a:latin typeface="Segoe UI"/>
                        </a:defRPr>
                      </a:pPr>
                      <a:r>
                        <a:t>64.31 %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87.68 %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CD296"/>
                          </a:solidFill>
                          <a:latin typeface="Segoe UI"/>
                        </a:defRPr>
                      </a:pPr>
                      <a:r>
                        <a:t>+4.83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37960" y="4754880"/>
            <a:ext cx="46634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0">
                <a:solidFill>
                  <a:srgbClr val="8C8C9E"/>
                </a:solidFill>
                <a:latin typeface="Segoe UI"/>
              </a:defRPr>
            </a:pPr>
            <a:r>
              <a:t>Distillation closes roughly one-sixth of the teacher-student gap, with zero size or latency overhead.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38D2BE"/>
                </a:solidFill>
                <a:latin typeface="Segoe UI"/>
              </a:defRPr>
            </a:pPr>
            <a:r>
              <a:t>KNOWLEDGE DISTILLATION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1">
                <a:solidFill>
                  <a:srgbClr val="F0F0F8"/>
                </a:solidFill>
                <a:latin typeface="Segoe UI"/>
              </a:defRPr>
            </a:pPr>
            <a:r>
              <a:t>Top-1 Test Accuracy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463040" cy="31750"/>
          </a:xfrm>
          <a:prstGeom prst="rect">
            <a:avLst/>
          </a:prstGeom>
          <a:solidFill>
            <a:srgbClr val="3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5912" cy="3931920"/>
          </a:xfrm>
          <a:prstGeom prst="roundRect">
            <a:avLst>
              <a:gd name="adj" fmla="val 4000"/>
            </a:avLst>
          </a:prstGeom>
          <a:solidFill>
            <a:srgbClr val="1C1C28"/>
          </a:solidFill>
          <a:ln w="12700">
            <a:solidFill>
              <a:srgbClr val="32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istillation_histogram_test_to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78508"/>
            <a:ext cx="10451592" cy="34838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623560"/>
            <a:ext cx="1072591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200" b="0">
                <a:solidFill>
                  <a:srgbClr val="C3C3D2"/>
                </a:solidFill>
                <a:latin typeface="Segoe UI"/>
              </a:defRPr>
            </a:pPr>
            <a:r>
              <a:t>Key Insights: Overall Top-1 test accuracy across configurations. The distilled student peaks at 65.85% with T = 20 (+6.37 percentage points vs. baseline 59.48%). This confirms that higher temperatures smooth teacher logits, helping the lower-capacity student learn class boundaries. Conversely, spatial Attention Transfer (AT) and Born-Again Network (BAN) self-distillation suffer from structural mismatches and error propagation, leading to regressions.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38D2BE"/>
                </a:solidFill>
                <a:latin typeface="Segoe UI"/>
              </a:defRPr>
            </a:pPr>
            <a:r>
              <a:t>KNOWLEDGE DISTILLATION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1">
                <a:solidFill>
                  <a:srgbClr val="F0F0F8"/>
                </a:solidFill>
                <a:latin typeface="Segoe UI"/>
              </a:defRPr>
            </a:pPr>
            <a:r>
              <a:t>Top-5 Test Accuracy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463040" cy="31750"/>
          </a:xfrm>
          <a:prstGeom prst="rect">
            <a:avLst/>
          </a:prstGeom>
          <a:solidFill>
            <a:srgbClr val="3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5912" cy="3931920"/>
          </a:xfrm>
          <a:prstGeom prst="roundRect">
            <a:avLst>
              <a:gd name="adj" fmla="val 4000"/>
            </a:avLst>
          </a:prstGeom>
          <a:solidFill>
            <a:srgbClr val="1C1C28"/>
          </a:solidFill>
          <a:ln w="12700">
            <a:solidFill>
              <a:srgbClr val="32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istillation_histogram_test_to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78508"/>
            <a:ext cx="10451592" cy="34838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623560"/>
            <a:ext cx="1072591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200" b="0">
                <a:solidFill>
                  <a:srgbClr val="C3C3D2"/>
                </a:solidFill>
                <a:latin typeface="Segoe UI"/>
              </a:defRPr>
            </a:pPr>
            <a:r>
              <a:t>Key Insights: Overall Top-5 test accuracy. Standard KD at T = 20 achieves the highest performance at 89.24% (+6.47 pp vs. baseline 82.77%). Similar to the Top-1 trends, soft logit targets consistently outperform scratch baselines across sweeps. Restricting the student with spatial attention matching or relying on noise-prone uncalibrated self-distillation (BAN) fails to yield competitive Top-5 results.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38D2BE"/>
                </a:solidFill>
                <a:latin typeface="Segoe UI"/>
              </a:defRPr>
            </a:pPr>
            <a:r>
              <a:t>KNOWLEDGE DISTILLATION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1">
                <a:solidFill>
                  <a:srgbClr val="F0F0F8"/>
                </a:solidFill>
                <a:latin typeface="Segoe UI"/>
              </a:defRPr>
            </a:pPr>
            <a:r>
              <a:t>Temperature Ablation (α = 0.7)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463040" cy="31750"/>
          </a:xfrm>
          <a:prstGeom prst="rect">
            <a:avLst/>
          </a:prstGeom>
          <a:solidFill>
            <a:srgbClr val="3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4206240"/>
          </a:xfrm>
          <a:prstGeom prst="roundRect">
            <a:avLst>
              <a:gd name="adj" fmla="val 4000"/>
            </a:avLst>
          </a:prstGeom>
          <a:solidFill>
            <a:srgbClr val="1C1C28"/>
          </a:solidFill>
          <a:ln w="12700">
            <a:solidFill>
              <a:srgbClr val="32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8D2BE"/>
                </a:solidFill>
                <a:latin typeface="Segoe UI"/>
              </a:defRPr>
            </a:pPr>
            <a:r>
              <a:t>TEMPERATURE SWEEP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2377440"/>
          <a:ext cx="49377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552"/>
                <a:gridCol w="987552"/>
                <a:gridCol w="987552"/>
                <a:gridCol w="987552"/>
                <a:gridCol w="987552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T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Train Acc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Val Top-1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Test Top-1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Δ vs BL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98.44 %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62.75 %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62.91 %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+3.43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95.87 %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63.12 %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62.07 %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+2.59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97.59 %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64.57 %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64.31 %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+4.83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98.28 %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64.85 %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64.47 %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+4.99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8D2BE"/>
                          </a:solidFill>
                          <a:latin typeface="Segoe UI"/>
                        </a:defRPr>
                      </a:pPr>
                      <a:r>
                        <a:t>20  (best)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99.05 %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65.18 %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8D2BE"/>
                          </a:solidFill>
                          <a:latin typeface="Segoe UI"/>
                        </a:defRPr>
                      </a:pPr>
                      <a:r>
                        <a:t>65.85 %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CD296"/>
                          </a:solidFill>
                          <a:latin typeface="Segoe UI"/>
                        </a:defRPr>
                      </a:pPr>
                      <a:r>
                        <a:t>+6.37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309360" y="1554480"/>
            <a:ext cx="5120640" cy="4206240"/>
          </a:xfrm>
          <a:prstGeom prst="roundRect">
            <a:avLst>
              <a:gd name="adj" fmla="val 4000"/>
            </a:avLst>
          </a:prstGeom>
          <a:solidFill>
            <a:srgbClr val="1C1C28"/>
          </a:solidFill>
          <a:ln w="12700">
            <a:solidFill>
              <a:srgbClr val="32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8D2BE"/>
                </a:solidFill>
                <a:latin typeface="Segoe UI"/>
              </a:defRPr>
            </a:pPr>
            <a:r>
              <a:t>ANALYSIS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 b="1">
                <a:solidFill>
                  <a:srgbClr val="F0F0F8"/>
                </a:solidFill>
                <a:latin typeface="Segoe UI"/>
              </a:defRPr>
            </a:pPr>
            <a:r>
              <a:t>Performance improves monotonically with temperature. At T = 20 the student reaches 65.85 % Test Top-1, a +6.37 pp gain over the baseline.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Higher temperatures smooth the teacher's output distribution, exposing inter-class similarity structure that a lower-capacity student can approximate more effectively.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At T = 1 the softmax outputs are nearly one-hot, which provides minimal additional signal beyond the hard labels.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38D2BE"/>
                </a:solidFill>
                <a:latin typeface="Segoe UI"/>
              </a:defRPr>
            </a:pPr>
            <a:r>
              <a:t>ADVANCED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1">
                <a:solidFill>
                  <a:srgbClr val="F0F0F8"/>
                </a:solidFill>
                <a:latin typeface="Segoe UI"/>
              </a:defRPr>
            </a:pPr>
            <a:r>
              <a:t>Attention Transfer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463040" cy="31750"/>
          </a:xfrm>
          <a:prstGeom prst="rect">
            <a:avLst/>
          </a:prstGeom>
          <a:solidFill>
            <a:srgbClr val="3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1206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8D2BE"/>
                </a:solidFill>
                <a:latin typeface="Segoe UI"/>
              </a:defRPr>
            </a:pPr>
            <a:r>
              <a:t>APPROACH &amp; DEBUGGING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Spatial and temporal attention maps (L2-normalized squared activations) are aligned between teacher and student at matched network stages.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 b="1">
                <a:solidFill>
                  <a:srgbClr val="F5BE32"/>
                </a:solidFill>
                <a:latin typeface="Segoe UI"/>
              </a:defRPr>
            </a:pPr>
            <a:r>
              <a:t>An initial configuration targeted block 5 of the teacher, which corresponds to the classification head (2D tensor). This produced constant attention maps and silently nullified the AT loss.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After correcting the mapping to [2,3,4] → [2,4,6], the AT loss became active but still resulted in a performance regression.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8D2BE"/>
                </a:solidFill>
                <a:latin typeface="Segoe UI"/>
              </a:defRPr>
            </a:pPr>
            <a:r>
              <a:t>CONFIGURATIONS TESTED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•  Symmetric: β_s = 0.05, β_t = 0.05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•  Temporal-Only: β_s = 0.0, β_t = 0.10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54480"/>
            <a:ext cx="5120640" cy="4572000"/>
          </a:xfrm>
          <a:prstGeom prst="roundRect">
            <a:avLst>
              <a:gd name="adj" fmla="val 4000"/>
            </a:avLst>
          </a:prstGeom>
          <a:solidFill>
            <a:srgbClr val="1C1C28"/>
          </a:solidFill>
          <a:ln w="12700">
            <a:solidFill>
              <a:srgbClr val="32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8288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8D2BE"/>
                </a:solidFill>
                <a:latin typeface="Segoe UI"/>
              </a:defRPr>
            </a:pPr>
            <a:r>
              <a:t>RESULTS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37960" y="2377440"/>
          <a:ext cx="46634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Config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Val Top-1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Δ vs KD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KD (T=8, no AT)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64.57 %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ref.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AT Symmetric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58.25 %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5BE32"/>
                          </a:solidFill>
                          <a:latin typeface="Segoe UI"/>
                        </a:defRPr>
                      </a:pPr>
                      <a:r>
                        <a:t>−6.32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AT Temporal-Only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59.04 %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5BE32"/>
                          </a:solidFill>
                          <a:latin typeface="Segoe UI"/>
                        </a:defRPr>
                      </a:pPr>
                      <a:r>
                        <a:t>−5.53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37960" y="4023360"/>
            <a:ext cx="46634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8D2BE"/>
                </a:solidFill>
                <a:latin typeface="Segoe UI"/>
              </a:defRPr>
            </a:pPr>
            <a:r>
              <a:t>INTERPRETATION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00" b="0">
                <a:solidFill>
                  <a:srgbClr val="C3C3D2"/>
                </a:solidFill>
                <a:latin typeface="Segoe UI"/>
              </a:defRPr>
            </a:pPr>
            <a:r>
              <a:t>The spatial capacity gap between standard 3D convolutions (teacher) and depthwise separable convolutions (student) makes it structurally difficult for the student to reproduce the teacher's attention patterns.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C3C3D2"/>
                </a:solidFill>
                <a:latin typeface="Segoe UI"/>
              </a:defRPr>
            </a:pPr>
            <a:r>
              <a:t>The additional AT loss acts as an over-constraint, degrading performance rather than helping convergence.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38D2BE"/>
                </a:solidFill>
                <a:latin typeface="Segoe UI"/>
              </a:defRPr>
            </a:pPr>
            <a:r>
              <a:t>ADVANCED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1">
                <a:solidFill>
                  <a:srgbClr val="F0F0F8"/>
                </a:solidFill>
                <a:latin typeface="Segoe UI"/>
              </a:defRPr>
            </a:pPr>
            <a:r>
              <a:t>Born-Again Networks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463040" cy="31750"/>
          </a:xfrm>
          <a:prstGeom prst="rect">
            <a:avLst/>
          </a:prstGeom>
          <a:solidFill>
            <a:srgbClr val="3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1206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8D2BE"/>
                </a:solidFill>
                <a:latin typeface="Segoe UI"/>
              </a:defRPr>
            </a:pPr>
            <a:r>
              <a:t>SETUP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Iterative self-distillation with homogeneous architecture (MobileNet3D → MobileNet3D) across 3 generations.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Starting point (Gen 0): logit-distilled student (KD T = 8, 64.31 % Test Top-1).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Mode: distillation_at — logit KD combined with Attention Transfer using identical feature keys [2, 4, 6] on both sides (no interpolation needed).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Hyper-parameters: T = 2.5, α = 0.5, β_s = β_t = 0.05, 50 epochs, AdamW, cosine scheduler.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54480"/>
            <a:ext cx="5120640" cy="4572000"/>
          </a:xfrm>
          <a:prstGeom prst="roundRect">
            <a:avLst>
              <a:gd name="adj" fmla="val 4000"/>
            </a:avLst>
          </a:prstGeom>
          <a:solidFill>
            <a:srgbClr val="1C1C28"/>
          </a:solidFill>
          <a:ln w="12700">
            <a:solidFill>
              <a:srgbClr val="32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8288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8D2BE"/>
                </a:solidFill>
                <a:latin typeface="Segoe UI"/>
              </a:defRPr>
            </a:pPr>
            <a:r>
              <a:t>GENERATIONAL COLLAPSE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37960" y="2286000"/>
          <a:ext cx="46634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5860"/>
                <a:gridCol w="1165860"/>
                <a:gridCol w="1165860"/>
                <a:gridCol w="116586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Gen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Teacher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Test Top-1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Δ vs Gen 0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Gen 0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ResNet-50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64.31 %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ref.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Gen 1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Gen 0 Student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60.98 %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5BE32"/>
                          </a:solidFill>
                          <a:latin typeface="Segoe UI"/>
                        </a:defRPr>
                      </a:pPr>
                      <a:r>
                        <a:t>−3.33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Gen 2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Gen 1 Student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60.43 %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5BE32"/>
                          </a:solidFill>
                          <a:latin typeface="Segoe UI"/>
                        </a:defRPr>
                      </a:pPr>
                      <a:r>
                        <a:t>−3.88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Gen 3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Gen 2 Student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59.21 %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5BE32"/>
                          </a:solidFill>
                          <a:latin typeface="Segoe UI"/>
                        </a:defRPr>
                      </a:pPr>
                      <a:r>
                        <a:t>−5.10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37960" y="4251960"/>
            <a:ext cx="46634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 sz="1200" b="0">
                <a:solidFill>
                  <a:srgbClr val="C3C3D2"/>
                </a:solidFill>
                <a:latin typeface="Segoe UI"/>
              </a:defRPr>
            </a:pPr>
            <a:r>
              <a:t>Despite perfectly matching features (exact alignment, no spatial interpolation), a progressive collapse is observed: Gen 3 drops below baseline.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C3C3D2"/>
                </a:solidFill>
                <a:latin typeface="Segoe UI"/>
              </a:defRPr>
            </a:pPr>
            <a:r>
              <a:t>The student-teacher (64%) provides noisy soft targets. Each successive generation inherits and amplifies these errors, degrading the training signal.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38D2BE"/>
                </a:solidFill>
                <a:latin typeface="Segoe UI"/>
              </a:defRPr>
            </a:pPr>
            <a:r>
              <a:t>QUALITATIVE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1">
                <a:solidFill>
                  <a:srgbClr val="F0F0F8"/>
                </a:solidFill>
                <a:latin typeface="Segoe UI"/>
              </a:defRPr>
            </a:pPr>
            <a:r>
              <a:t>Latent Space — t-SNE Visualization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463040" cy="31750"/>
          </a:xfrm>
          <a:prstGeom prst="rect">
            <a:avLst/>
          </a:prstGeom>
          <a:solidFill>
            <a:srgbClr val="3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5912" cy="2999232"/>
          </a:xfrm>
          <a:prstGeom prst="roundRect">
            <a:avLst>
              <a:gd name="adj" fmla="val 4000"/>
            </a:avLst>
          </a:prstGeom>
          <a:solidFill>
            <a:srgbClr val="1C1C28"/>
          </a:solidFill>
          <a:ln w="12700">
            <a:solidFill>
              <a:srgbClr val="32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sne_temperature_t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325" y="1691640"/>
            <a:ext cx="10322302" cy="27249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709160"/>
            <a:ext cx="10725912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8D2BE"/>
                </a:solidFill>
                <a:latin typeface="Segoe UI"/>
              </a:defRPr>
            </a:pPr>
            <a:r>
              <a:t>EMBEDDING ANALYSIS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t-SNE projections of pre-classifier embeddings (10 random classes). Teacher clusters are compact and well-separated. Baseline student exhibits significant inter-class overlap.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300" b="1">
                <a:solidFill>
                  <a:srgbClr val="F0F0F8"/>
                </a:solidFill>
                <a:latin typeface="Segoe UI"/>
              </a:defRPr>
            </a:pPr>
            <a:r>
              <a:t>The best distilled student (KD T = 20) shows tighter clustering and improved class separation compared to the baseline, confirming effective structural knowledge transfer.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38D2BE"/>
                </a:solidFill>
                <a:latin typeface="Segoe UI"/>
              </a:defRPr>
            </a:pPr>
            <a:r>
              <a:t>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1">
                <a:solidFill>
                  <a:srgbClr val="F0F0F8"/>
                </a:solidFill>
                <a:latin typeface="Segoe UI"/>
              </a:defRPr>
            </a:pPr>
            <a:r>
              <a:t>Cross-Frame Distillation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463040" cy="31750"/>
          </a:xfrm>
          <a:prstGeom prst="rect">
            <a:avLst/>
          </a:prstGeom>
          <a:solidFill>
            <a:srgbClr val="3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1206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8D2BE"/>
                </a:solidFill>
                <a:latin typeface="Segoe UI"/>
              </a:defRPr>
            </a:pPr>
            <a:r>
              <a:t>MOTIVATION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Processing 24 frames per clip is computationally expensive for edge and mobile deployments.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 b="1">
                <a:solidFill>
                  <a:srgbClr val="F0F0F8"/>
                </a:solidFill>
                <a:latin typeface="Segoe UI"/>
              </a:defRPr>
            </a:pPr>
            <a:r>
              <a:t>A 16-frame student (Model B) reduces temporal computation by 33.3 % compared to the 24-frame model (Model A).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The benchmark measures whether this theoretical saving translates into real wall-clock speedup on GPU and CPU hardware.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54480"/>
            <a:ext cx="5120640" cy="4206240"/>
          </a:xfrm>
          <a:prstGeom prst="roundRect">
            <a:avLst>
              <a:gd name="adj" fmla="val 4000"/>
            </a:avLst>
          </a:prstGeom>
          <a:solidFill>
            <a:srgbClr val="1C1C28"/>
          </a:solidFill>
          <a:ln w="12700">
            <a:solidFill>
              <a:srgbClr val="32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828800"/>
            <a:ext cx="46634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8D2BE"/>
                </a:solidFill>
                <a:latin typeface="Segoe UI"/>
              </a:defRPr>
            </a:pPr>
            <a:r>
              <a:t>BENCHMARK PROTOCOL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•  Dataset: official UCF-101 test split (3 783 clips)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•  Metric: pure forward-pass latency (I/O excluded)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•  GPU: NVIDIA L40S with CUDA synchronization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•  CPU: sub-sampled (50 batches BS=1, 20 batches BS=8) to avoid excessive runtime while preserving statistical accuracy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•  Server: DMI Cluster (gnode10)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38D2BE"/>
                </a:solidFill>
                <a:latin typeface="Segoe UI"/>
              </a:defRPr>
            </a:pPr>
            <a:r>
              <a:t>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1">
                <a:solidFill>
                  <a:srgbClr val="F0F0F8"/>
                </a:solidFill>
                <a:latin typeface="Segoe UI"/>
              </a:defRPr>
            </a:pPr>
            <a:r>
              <a:t>GPU Benchmark — NVIDIA L40S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463040" cy="31750"/>
          </a:xfrm>
          <a:prstGeom prst="rect">
            <a:avLst/>
          </a:prstGeom>
          <a:solidFill>
            <a:srgbClr val="3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5912" cy="3931920"/>
          </a:xfrm>
          <a:prstGeom prst="roundRect">
            <a:avLst>
              <a:gd name="adj" fmla="val 4000"/>
            </a:avLst>
          </a:prstGeom>
          <a:solidFill>
            <a:srgbClr val="1C1C28"/>
          </a:solidFill>
          <a:ln w="12700">
            <a:solidFill>
              <a:srgbClr val="32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pu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706167"/>
            <a:ext cx="4937760" cy="3628545"/>
          </a:xfrm>
          <a:prstGeom prst="rect">
            <a:avLst/>
          </a:prstGeom>
        </p:spPr>
      </p:pic>
      <p:pic>
        <p:nvPicPr>
          <p:cNvPr id="7" name="Picture 6" descr="gpu_through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757683"/>
            <a:ext cx="4937760" cy="35255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623560"/>
            <a:ext cx="1072591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200" b="0">
                <a:solidFill>
                  <a:srgbClr val="C3C3D2"/>
                </a:solidFill>
                <a:latin typeface="Segoe UI"/>
              </a:defRPr>
            </a:pPr>
            <a:r>
              <a:t>Key Insights: GPU latency per batch (left) and throughput in clips/sec (right). At batch sizes &gt;= 8, the GPU is saturated, and the 16-frame model (Model B) achieves a stable 1.59x–1.66x speedup (saving 37–40% of GPU compute time). At BS=1, the performance gain is limited to 1.13x due to PCIe kernel launch overhead dominance.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38D2BE"/>
                </a:solidFill>
                <a:latin typeface="Segoe UI"/>
              </a:defRPr>
            </a:pPr>
            <a:r>
              <a:t>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1">
                <a:solidFill>
                  <a:srgbClr val="F0F0F8"/>
                </a:solidFill>
                <a:latin typeface="Segoe UI"/>
              </a:defRPr>
            </a:pPr>
            <a:r>
              <a:t>GPU Benchmark — NVIDIA L40S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463040" cy="31750"/>
          </a:xfrm>
          <a:prstGeom prst="rect">
            <a:avLst/>
          </a:prstGeom>
          <a:solidFill>
            <a:srgbClr val="3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206240"/>
          </a:xfrm>
          <a:prstGeom prst="roundRect">
            <a:avLst>
              <a:gd name="adj" fmla="val 4000"/>
            </a:avLst>
          </a:prstGeom>
          <a:solidFill>
            <a:srgbClr val="1C1C28"/>
          </a:solidFill>
          <a:ln w="12700">
            <a:solidFill>
              <a:srgbClr val="32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pu_latency_sav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02620"/>
            <a:ext cx="4846320" cy="3709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09360" y="1554480"/>
            <a:ext cx="5120640" cy="4206240"/>
          </a:xfrm>
          <a:prstGeom prst="roundRect">
            <a:avLst>
              <a:gd name="adj" fmla="val 4000"/>
            </a:avLst>
          </a:prstGeom>
          <a:solidFill>
            <a:srgbClr val="1C1C28"/>
          </a:solidFill>
          <a:ln w="12700">
            <a:solidFill>
              <a:srgbClr val="32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8288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8D2BE"/>
                </a:solidFill>
                <a:latin typeface="Segoe UI"/>
              </a:defRPr>
            </a:pPr>
            <a:r>
              <a:t>PERFORMANCE SUMMARY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37960" y="2286000"/>
          <a:ext cx="46634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688"/>
                <a:gridCol w="932688"/>
                <a:gridCol w="932688"/>
                <a:gridCol w="932688"/>
                <a:gridCol w="932688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BS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Model A (24f)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Model B (16f)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Speedup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Saved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4.54 ms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4.02 ms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CD296"/>
                          </a:solidFill>
                          <a:latin typeface="Segoe UI"/>
                        </a:defRPr>
                      </a:pPr>
                      <a:r>
                        <a:t>1.13×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CD296"/>
                          </a:solidFill>
                          <a:latin typeface="Segoe UI"/>
                        </a:defRPr>
                      </a:pPr>
                      <a:r>
                        <a:t>11.5 %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1.03 ms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0.62 ms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CD296"/>
                          </a:solidFill>
                          <a:latin typeface="Segoe UI"/>
                        </a:defRPr>
                      </a:pPr>
                      <a:r>
                        <a:t>1.65×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CD296"/>
                          </a:solidFill>
                          <a:latin typeface="Segoe UI"/>
                        </a:defRPr>
                      </a:pPr>
                      <a:r>
                        <a:t>39.3 %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1.18 ms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0.74 ms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CD296"/>
                          </a:solidFill>
                          <a:latin typeface="Segoe UI"/>
                        </a:defRPr>
                      </a:pPr>
                      <a:r>
                        <a:t>1.59×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CD296"/>
                          </a:solidFill>
                          <a:latin typeface="Segoe UI"/>
                        </a:defRPr>
                      </a:pPr>
                      <a:r>
                        <a:t>37.2 %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1.37 ms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0.82 ms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CD296"/>
                          </a:solidFill>
                          <a:latin typeface="Segoe UI"/>
                        </a:defRPr>
                      </a:pPr>
                      <a:r>
                        <a:t>1.66×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CD296"/>
                          </a:solidFill>
                          <a:latin typeface="Segoe UI"/>
                        </a:defRPr>
                      </a:pPr>
                      <a:r>
                        <a:t>39.7 %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37960" y="4114800"/>
            <a:ext cx="46634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 sz="1200" b="0">
                <a:solidFill>
                  <a:srgbClr val="C3C3D2"/>
                </a:solidFill>
                <a:latin typeface="Segoe UI"/>
              </a:defRPr>
            </a:pPr>
            <a:r>
              <a:t>At batch sizes ≥ 8 the GPU is fully saturated and Model B achieves 37-40 % latency savings, exceeding the linear 33 % frame reduction due to better alignment in memory.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C3C3D2"/>
                </a:solidFill>
                <a:latin typeface="Segoe UI"/>
              </a:defRPr>
            </a:pPr>
            <a:r>
              <a:t>At BS = 1, PCIe kernel-launch overhead dominates, limiting the latency savings to ~11.5 %.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38D2BE"/>
                </a:solidFill>
                <a:latin typeface="Segoe UI"/>
              </a:defRPr>
            </a:pPr>
            <a:r>
              <a:t>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1">
                <a:solidFill>
                  <a:srgbClr val="F0F0F8"/>
                </a:solidFill>
                <a:latin typeface="Segoe UI"/>
              </a:defRPr>
            </a:pPr>
            <a:r>
              <a:t>CPU Benchmark — Cluster Host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463040" cy="31750"/>
          </a:xfrm>
          <a:prstGeom prst="rect">
            <a:avLst/>
          </a:prstGeom>
          <a:solidFill>
            <a:srgbClr val="3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5912" cy="3931920"/>
          </a:xfrm>
          <a:prstGeom prst="roundRect">
            <a:avLst>
              <a:gd name="adj" fmla="val 4000"/>
            </a:avLst>
          </a:prstGeom>
          <a:solidFill>
            <a:srgbClr val="1C1C28"/>
          </a:solidFill>
          <a:ln w="12700">
            <a:solidFill>
              <a:srgbClr val="32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pu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080" y="1691640"/>
            <a:ext cx="4831840" cy="3657600"/>
          </a:xfrm>
          <a:prstGeom prst="rect">
            <a:avLst/>
          </a:prstGeom>
        </p:spPr>
      </p:pic>
      <p:pic>
        <p:nvPicPr>
          <p:cNvPr id="7" name="Picture 6" descr="cpu_through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014" y="1691640"/>
            <a:ext cx="4771012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623560"/>
            <a:ext cx="1072591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200" b="0">
                <a:solidFill>
                  <a:srgbClr val="C3C3D2"/>
                </a:solidFill>
                <a:latin typeface="Segoe UI"/>
              </a:defRPr>
            </a:pPr>
            <a:r>
              <a:t>Key Insights: CPU latency per batch (left) and throughput (right). Without PCIe bus delays, the speedup on CPU directly reflects the arithmetic FLOP reduction. The 16-frame model (Model B) achieves a stable 1.54x–1.60x speedup (saving 35–37% of latency) across batch sizes, making it highly suitable for real-time edge execution.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38D2BE"/>
                </a:solidFill>
                <a:latin typeface="Segoe UI"/>
              </a:defRPr>
            </a:pPr>
            <a:r>
              <a:t>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1">
                <a:solidFill>
                  <a:srgbClr val="F0F0F8"/>
                </a:solidFill>
                <a:latin typeface="Segoe UI"/>
              </a:defRPr>
            </a:pPr>
            <a:r>
              <a:t>CPU Benchmark — Cluster Host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463040" cy="31750"/>
          </a:xfrm>
          <a:prstGeom prst="rect">
            <a:avLst/>
          </a:prstGeom>
          <a:solidFill>
            <a:srgbClr val="3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206240"/>
          </a:xfrm>
          <a:prstGeom prst="roundRect">
            <a:avLst>
              <a:gd name="adj" fmla="val 4000"/>
            </a:avLst>
          </a:prstGeom>
          <a:solidFill>
            <a:srgbClr val="1C1C28"/>
          </a:solidFill>
          <a:ln w="12700">
            <a:solidFill>
              <a:srgbClr val="32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pu_latency_sav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02620"/>
            <a:ext cx="4846320" cy="3709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09360" y="1554480"/>
            <a:ext cx="5120640" cy="4206240"/>
          </a:xfrm>
          <a:prstGeom prst="roundRect">
            <a:avLst>
              <a:gd name="adj" fmla="val 4000"/>
            </a:avLst>
          </a:prstGeom>
          <a:solidFill>
            <a:srgbClr val="1C1C28"/>
          </a:solidFill>
          <a:ln w="12700">
            <a:solidFill>
              <a:srgbClr val="32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8288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8D2BE"/>
                </a:solidFill>
                <a:latin typeface="Segoe UI"/>
              </a:defRPr>
            </a:pPr>
            <a:r>
              <a:t>PERFORMANCE SUMMARY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37960" y="2286000"/>
          <a:ext cx="4663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688"/>
                <a:gridCol w="932688"/>
                <a:gridCol w="932688"/>
                <a:gridCol w="932688"/>
                <a:gridCol w="932688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BS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Model A (24f)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Model B (16f)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Speedup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Saved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136.70 ms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88.51 ms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CD296"/>
                          </a:solidFill>
                          <a:latin typeface="Segoe UI"/>
                        </a:defRPr>
                      </a:pPr>
                      <a:r>
                        <a:t>1.54×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CD296"/>
                          </a:solidFill>
                          <a:latin typeface="Segoe UI"/>
                        </a:defRPr>
                      </a:pPr>
                      <a:r>
                        <a:t>35.3 %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113.51 ms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71.13 ms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CD296"/>
                          </a:solidFill>
                          <a:latin typeface="Segoe UI"/>
                        </a:defRPr>
                      </a:pPr>
                      <a:r>
                        <a:t>1.60×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CD296"/>
                          </a:solidFill>
                          <a:latin typeface="Segoe UI"/>
                        </a:defRPr>
                      </a:pPr>
                      <a:r>
                        <a:t>37.3 %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37960" y="3566160"/>
            <a:ext cx="46634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 sz="1200" b="0">
                <a:solidFill>
                  <a:srgbClr val="C3C3D2"/>
                </a:solidFill>
                <a:latin typeface="Segoe UI"/>
              </a:defRPr>
            </a:pPr>
            <a:r>
              <a:t>Without PCIe overhead, the speedup directly reflects the arithmetic FLOP reduction, showing consistent gains at all batch sizes.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C3C3D2"/>
                </a:solidFill>
                <a:latin typeface="Segoe UI"/>
              </a:defRPr>
            </a:pPr>
            <a:r>
              <a:t>Single-clip latency drops from 137 ms to 89 ms, crossing below the 100 ms threshold for real-time video processing, making Model B ideal for CPU-only edge deployments.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38D2BE"/>
                </a:solidFill>
                <a:latin typeface="Segoe UI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1">
                <a:solidFill>
                  <a:srgbClr val="F0F0F8"/>
                </a:solidFill>
                <a:latin typeface="Segoe UI"/>
              </a:defRPr>
            </a:pPr>
            <a:r>
              <a:t>Conclusions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463040" cy="31750"/>
          </a:xfrm>
          <a:prstGeom prst="rect">
            <a:avLst/>
          </a:prstGeom>
          <a:solidFill>
            <a:srgbClr val="3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1206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8D2BE"/>
                </a:solidFill>
                <a:latin typeface="Segoe UI"/>
              </a:defRPr>
            </a:pPr>
            <a:r>
              <a:t>SPEED-ACCURACY TRADE-OFF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Model A (24 f, KD T = 20):  65.85 % Test Top-1  (+6.37 pp vs baseline)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Model B (16 f, cross-frame):  62.68 % Test Top-1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300" b="1">
                <a:solidFill>
                  <a:srgbClr val="F0F0F8"/>
                </a:solidFill>
                <a:latin typeface="Segoe UI"/>
              </a:defRPr>
            </a:pPr>
            <a:r>
              <a:t>Saving 37-40 % latency costs only 3.17 pp in accuracy compared to Model A.  Model B still exceeds the scratch baseline by +3.20 pp.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54480"/>
            <a:ext cx="5120640" cy="4206240"/>
          </a:xfrm>
          <a:prstGeom prst="roundRect">
            <a:avLst>
              <a:gd name="adj" fmla="val 4000"/>
            </a:avLst>
          </a:prstGeom>
          <a:solidFill>
            <a:srgbClr val="1C1C28"/>
          </a:solidFill>
          <a:ln w="12700">
            <a:solidFill>
              <a:srgbClr val="32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828800"/>
            <a:ext cx="46634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8D2BE"/>
                </a:solidFill>
                <a:latin typeface="Segoe UI"/>
              </a:defRPr>
            </a:pPr>
            <a:r>
              <a:t>KEY FINDINGS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•  Logit-based KD is effective and zero-overhead; higher temperatures better bridge large capacity gaps.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•  Attention Transfer is limited by the architectural mismatch between standard and depthwise convolutions.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•  Born-Again self-distillation is sensitive to temperature calibration and prone to generational collapse without an oracle teacher.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300" b="1">
                <a:solidFill>
                  <a:srgbClr val="F0F0F8"/>
                </a:solidFill>
                <a:latin typeface="Segoe UI"/>
              </a:defRPr>
            </a:pPr>
            <a:r>
              <a:t>•  Cross-frame distillation offers an effective latency-accuracy trade-off for real-time edge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